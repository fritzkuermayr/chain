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7"/>
    <p:restoredTop sz="94610"/>
  </p:normalViewPr>
  <p:slideViewPr>
    <p:cSldViewPr snapToGrid="0" snapToObjects="1">
      <p:cViewPr varScale="1">
        <p:scale>
          <a:sx n="97" d="100"/>
          <a:sy n="97" d="100"/>
        </p:scale>
        <p:origin x="76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9681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has rewritten how software gets built. Pull requests review themselves, code lands in minutes, and engineers ship things that used to take weeks.
Today I want to talk about the sectors where that hasn't happened yet, and why.
[Pause. Let the tagline sit. ~20s]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Accounting, law, banking, logistics, public-sector work, healthcare. These sectors have access to the same models we do. Same APIs, same agents.
But adoption is dramatically slower. The reason isn't talent and isn't tooling.
[~30s]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sectors run on data that is by definition private. Government identifiers. Bank account numbers. Client identities. Patient records. Confidential contracts. Credentials.
Legally and practically, you cannot just paste a draft into a third-party AI system. So the people who would benefit most from AI are the people who can use it least.
[~35s]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second-order effect that nobody talks about. Because real cases can't be shared, there is no Stack Overflow for these industries. No public corpus of operational problems and solutions.
Which means agents have nothing to learn from in domain. The sectors that are already behind on AI fall further behind, because the very thing that bootstrapped software AI, open knowledge sharing, is structurally illegal for them.
[~35s]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 is the privacy layer that sits between sensitive internal data and the outside world. It has two surfaces.
The Privacy Gateway handles outbound communication, anything you'd send to a tax authority, a bank, a client, or another agent.
The chAIn Network is the safe knowledge feed built on top of that gateway. One pipeline runs underneath both.
[~30s]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get personal for a moment.
My mother is a partner at a tax consulting firm. The kind of place that handles end-to-end advisory, payroll, audits, year-end filings. Real client books, real client identities, real client money.
She still employs dozens of people. Bookkeepers, junior tax advisors, paraprofessionals. People doing work that, technically, a modern AI tool could do in minutes.
For the longest time I asked myself the obvious question: why? The model is good enough. The tooling is everywhere. ChatGPT, Claude, copilots in every spreadsheet. What is actually stopping her from automating any of this?
The answer turns out to be very simple. It is not capability. It is not budget. It is not even fear.
She literally cannot show a single client's document to a third-party AI tool. Not a balance sheet. Not a payroll register. Not a tax notice. Confidentiality is binding, both legally and by professional code. The blocker is policy, not the model.
Multiply that by every tax firm, every law firm, every clinic, every bank branch in this country. That is the gap chAIn closes.
[~40s. This is the slide that earns the demo. Land it slowly.]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here is what chAIn does for her.
She drags a real client document into chAIn. Names, IBANs, identifiers, anything sensitive, get replaced with realistic dummy data. With one click she sends the cleaned version to ChatGPT, or Claude, or any tool she's already comfortable with.
Then she asks her question. The reasoning happens on the dummy version. The original client data never leaves her firm.
Same workflow for any AI tool. That's the point. We don't compete with ChatGPT. We make it usable for her.
[~35s, sets up the live demo]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paste a real-looking client message with names, an IBAN, an API key, a patient identifier. Click Analyze.
The model returns the spans it classifies as critical. I can hover for the category, uncheck anything I'd rather keep, switch between placeholder mode (generic references like "Bank Account") and dummy mode, which fills in well-formed fakes for systems that need a valid-looking value.
EU rules require human-in-the-loop for some flows, so the same flow has a one-click review and approve. The outbound message keeps the operational meaning. The private data never leaves the perimeter.
[Live demo of /gateway here. ~55s]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product, second surface. This is a Stack Overflow for regulated work.
Topics across accounting, law, banking, public sector, logistics, health, tech. Filter by Solved and Open. I'll create a new post — notice the compose modal IS the gateway. The original draft never reaches the server. Only the rewritten version is published.
Agents read and reply through an API; the gateway runs on their writes too.
[Live demo of /network here. ~50s]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class that unblocked software engineers is now good enough to classify and rewrite domain-specific private text. The thing that's been missing is a boundary the regulated half of the economy actually trusts.
chAIn ships that boundary. And for the strictest cases, government, hospitals, defense, the same pipeline can run locally on the customer's own infrastructure, so no critical text ever crosses their network edge.
[~30s]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thing. We don't need the frontier to win this.
Today, on focused tasks like classification and rewrite, local open-weight models already match the frontier closely.
We've already post-trained models on synthetically generated regulated-text examples and we see clear, measurable improvements on the metrics that matter for the gateway: span detection precision and rewrite faithfulness.
The flywheel is the punchline. When we partner with the sectors we've named, accounting, law, banking, health, public sector, we get a steady stream of real (gateway-cleaned) communication. Post-trained on that, local models will outperform the current frontier on our two core tasks. Locally. On the customer's own server.
The harder the privacy constraint, the better our model gets. That's a moat the frontier labs cannot reach by default.
[~40s]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on us, then the ask.
We are three: Fritz Kuermayr, Aaron, and Elva. Three people, one product.
We're building chAIn because the people who would benefit most from AI today, the regulated half of the economy, can use it the least. We've built the gateway, we've built the network, we've already shown that local post-training closes the gap. Now we want to put it in the hands of the firms that need it.
[~25s]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chAIn. The privacy layer for sensitive industries.
If you work in, advise, or invest in any of the regulated sectors we named, scan the code, try the gateway, read the network. I'd love to talk to you about a pilot.
Thank you.
[~15s]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31"/>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1E2761">
              <a:alpha val="30000"/>
            </a:srgbClr>
          </a:solidFill>
          <a:ln/>
        </p:spPr>
        <p:txBody>
          <a:bodyPr/>
          <a:lstStyle/>
          <a:p>
            <a:endParaRPr lang="de-DE"/>
          </a:p>
        </p:txBody>
      </p:sp>
      <p:sp>
        <p:nvSpPr>
          <p:cNvPr id="3" name="Shape 1"/>
          <p:cNvSpPr/>
          <p:nvPr/>
        </p:nvSpPr>
        <p:spPr>
          <a:xfrm>
            <a:off x="9448495" y="3657600"/>
            <a:ext cx="5029200" cy="5029200"/>
          </a:xfrm>
          <a:prstGeom prst="ellipse">
            <a:avLst/>
          </a:prstGeom>
          <a:solidFill>
            <a:srgbClr val="2A3878">
              <a:alpha val="25000"/>
            </a:srgbClr>
          </a:solidFill>
          <a:ln/>
        </p:spPr>
        <p:txBody>
          <a:bodyPr/>
          <a:lstStyle/>
          <a:p>
            <a:endParaRPr lang="de-DE"/>
          </a:p>
        </p:txBody>
      </p:sp>
      <p:sp>
        <p:nvSpPr>
          <p:cNvPr id="4" name="Shape 2"/>
          <p:cNvSpPr/>
          <p:nvPr/>
        </p:nvSpPr>
        <p:spPr>
          <a:xfrm>
            <a:off x="502920" y="292608"/>
            <a:ext cx="1207008" cy="502920"/>
          </a:xfrm>
          <a:prstGeom prst="rect">
            <a:avLst/>
          </a:prstGeom>
          <a:solidFill>
            <a:srgbClr val="FFFFFF"/>
          </a:solidFill>
          <a:ln/>
        </p:spPr>
        <p:txBody>
          <a:bodyPr/>
          <a:lstStyle/>
          <a:p>
            <a:endParaRPr lang="de-DE"/>
          </a:p>
        </p:txBody>
      </p:sp>
      <p:sp>
        <p:nvSpPr>
          <p:cNvPr id="5" name="Text 3"/>
          <p:cNvSpPr/>
          <p:nvPr/>
        </p:nvSpPr>
        <p:spPr>
          <a:xfrm>
            <a:off x="502920" y="292608"/>
            <a:ext cx="1207008" cy="50292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ch</a:t>
            </a:r>
            <a:r>
              <a:rPr lang="en-US" sz="2200" b="1" dirty="0">
                <a:solidFill>
                  <a:srgbClr val="38BDF8"/>
                </a:solidFill>
                <a:latin typeface="Calibri" pitchFamily="34" charset="0"/>
                <a:ea typeface="Calibri" pitchFamily="34" charset="-122"/>
                <a:cs typeface="Calibri" pitchFamily="34" charset="-120"/>
              </a:rPr>
              <a:t>AI</a:t>
            </a:r>
            <a:r>
              <a:rPr lang="en-US" sz="2200" b="1" dirty="0">
                <a:solidFill>
                  <a:srgbClr val="0F172A"/>
                </a:solidFill>
                <a:latin typeface="Calibri" pitchFamily="34" charset="0"/>
                <a:ea typeface="Calibri" pitchFamily="34" charset="-122"/>
                <a:cs typeface="Calibri" pitchFamily="34" charset="-120"/>
              </a:rPr>
              <a:t>n</a:t>
            </a:r>
            <a:endParaRPr lang="en-US" sz="2200" dirty="0"/>
          </a:p>
        </p:txBody>
      </p:sp>
      <p:sp>
        <p:nvSpPr>
          <p:cNvPr id="6" name="Text 4"/>
          <p:cNvSpPr/>
          <p:nvPr/>
        </p:nvSpPr>
        <p:spPr>
          <a:xfrm>
            <a:off x="914400" y="2103120"/>
            <a:ext cx="10058400" cy="1554480"/>
          </a:xfrm>
          <a:prstGeom prst="rect">
            <a:avLst/>
          </a:prstGeom>
          <a:noFill/>
          <a:ln/>
        </p:spPr>
        <p:txBody>
          <a:bodyPr wrap="square" lIns="0" tIns="0" rIns="0" bIns="0" rtlCol="0" anchor="ctr"/>
          <a:lstStyle/>
          <a:p>
            <a:pPr marL="0" indent="0">
              <a:buNone/>
            </a:pPr>
            <a:r>
              <a:rPr lang="en-US" sz="14000" b="1" kern="0" spc="-200" dirty="0">
                <a:solidFill>
                  <a:srgbClr val="F8FAFC"/>
                </a:solidFill>
                <a:latin typeface="Calibri" pitchFamily="34" charset="0"/>
                <a:ea typeface="Calibri" pitchFamily="34" charset="-122"/>
                <a:cs typeface="Calibri" pitchFamily="34" charset="-120"/>
              </a:rPr>
              <a:t>ch</a:t>
            </a:r>
            <a:r>
              <a:rPr lang="en-US" sz="14000" b="1" kern="0" spc="-200" dirty="0">
                <a:solidFill>
                  <a:srgbClr val="38BDF8"/>
                </a:solidFill>
                <a:latin typeface="Calibri" pitchFamily="34" charset="0"/>
                <a:ea typeface="Calibri" pitchFamily="34" charset="-122"/>
                <a:cs typeface="Calibri" pitchFamily="34" charset="-120"/>
              </a:rPr>
              <a:t>AI</a:t>
            </a:r>
            <a:r>
              <a:rPr lang="en-US" sz="14000" b="1" kern="0" spc="-200" dirty="0">
                <a:solidFill>
                  <a:srgbClr val="F8FAFC"/>
                </a:solidFill>
                <a:latin typeface="Calibri" pitchFamily="34" charset="0"/>
                <a:ea typeface="Calibri" pitchFamily="34" charset="-122"/>
                <a:cs typeface="Calibri" pitchFamily="34" charset="-120"/>
              </a:rPr>
              <a:t>n</a:t>
            </a:r>
            <a:endParaRPr lang="en-US" sz="14000" dirty="0"/>
          </a:p>
        </p:txBody>
      </p:sp>
      <p:sp>
        <p:nvSpPr>
          <p:cNvPr id="7" name="Text 5"/>
          <p:cNvSpPr/>
          <p:nvPr/>
        </p:nvSpPr>
        <p:spPr>
          <a:xfrm>
            <a:off x="960120" y="3749040"/>
            <a:ext cx="10058400" cy="640080"/>
          </a:xfrm>
          <a:prstGeom prst="rect">
            <a:avLst/>
          </a:prstGeom>
          <a:noFill/>
          <a:ln/>
        </p:spPr>
        <p:txBody>
          <a:bodyPr wrap="square" lIns="0" tIns="0" rIns="0" bIns="0" rtlCol="0" anchor="ctr"/>
          <a:lstStyle/>
          <a:p>
            <a:pPr marL="0" indent="0">
              <a:buNone/>
            </a:pPr>
            <a:r>
              <a:rPr lang="en-US" sz="2400" dirty="0">
                <a:solidFill>
                  <a:srgbClr val="CADCFC"/>
                </a:solidFill>
                <a:latin typeface="Calibri" pitchFamily="34" charset="0"/>
                <a:ea typeface="Calibri" pitchFamily="34" charset="-122"/>
                <a:cs typeface="Calibri" pitchFamily="34" charset="-120"/>
              </a:rPr>
              <a:t>The privacy layer between sensitive data and the outside world.</a:t>
            </a:r>
            <a:endParaRPr lang="en-US" sz="2400" dirty="0"/>
          </a:p>
        </p:txBody>
      </p:sp>
      <p:sp>
        <p:nvSpPr>
          <p:cNvPr id="8" name="Shape 6"/>
          <p:cNvSpPr/>
          <p:nvPr/>
        </p:nvSpPr>
        <p:spPr>
          <a:xfrm>
            <a:off x="960120" y="5394960"/>
            <a:ext cx="548640" cy="36576"/>
          </a:xfrm>
          <a:prstGeom prst="rect">
            <a:avLst/>
          </a:prstGeom>
          <a:solidFill>
            <a:srgbClr val="38BDF8"/>
          </a:solidFill>
          <a:ln/>
        </p:spPr>
        <p:txBody>
          <a:bodyPr/>
          <a:lstStyle/>
          <a:p>
            <a:endParaRPr lang="de-DE"/>
          </a:p>
        </p:txBody>
      </p:sp>
      <p:sp>
        <p:nvSpPr>
          <p:cNvPr id="9" name="Text 7"/>
          <p:cNvSpPr/>
          <p:nvPr/>
        </p:nvSpPr>
        <p:spPr>
          <a:xfrm>
            <a:off x="960120" y="5486400"/>
            <a:ext cx="8229600" cy="457200"/>
          </a:xfrm>
          <a:prstGeom prst="rect">
            <a:avLst/>
          </a:prstGeom>
          <a:noFill/>
          <a:ln/>
        </p:spPr>
        <p:txBody>
          <a:bodyPr wrap="square" lIns="0" tIns="0" rIns="0" bIns="0" rtlCol="0" anchor="ctr"/>
          <a:lstStyle/>
          <a:p>
            <a:pPr marL="0" indent="0">
              <a:buNone/>
            </a:pPr>
            <a:r>
              <a:rPr lang="en-US" sz="1600" b="1" dirty="0">
                <a:solidFill>
                  <a:srgbClr val="F8FAFC"/>
                </a:solidFill>
                <a:latin typeface="Calibri" pitchFamily="34" charset="0"/>
                <a:ea typeface="Calibri" pitchFamily="34" charset="-122"/>
                <a:cs typeface="Calibri" pitchFamily="34" charset="-120"/>
              </a:rPr>
              <a:t>A privacy-first network for sensitive industries.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502920" y="292608"/>
            <a:ext cx="1207008" cy="502920"/>
          </a:xfrm>
          <a:prstGeom prst="rect">
            <a:avLst/>
          </a:prstGeom>
          <a:solidFill>
            <a:srgbClr val="FFFFFF"/>
          </a:solidFill>
          <a:ln/>
        </p:spPr>
        <p:txBody>
          <a:bodyPr/>
          <a:lstStyle/>
          <a:p>
            <a:endParaRPr lang="de-DE"/>
          </a:p>
        </p:txBody>
      </p:sp>
      <p:sp>
        <p:nvSpPr>
          <p:cNvPr id="3" name="Text 1"/>
          <p:cNvSpPr/>
          <p:nvPr/>
        </p:nvSpPr>
        <p:spPr>
          <a:xfrm>
            <a:off x="502920" y="292608"/>
            <a:ext cx="1207008" cy="50292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ch</a:t>
            </a:r>
            <a:r>
              <a:rPr lang="en-US" sz="2200" b="1" dirty="0">
                <a:solidFill>
                  <a:srgbClr val="38BDF8"/>
                </a:solidFill>
                <a:latin typeface="Calibri" pitchFamily="34" charset="0"/>
                <a:ea typeface="Calibri" pitchFamily="34" charset="-122"/>
                <a:cs typeface="Calibri" pitchFamily="34" charset="-120"/>
              </a:rPr>
              <a:t>AI</a:t>
            </a:r>
            <a:r>
              <a:rPr lang="en-US" sz="2200" b="1" dirty="0">
                <a:solidFill>
                  <a:srgbClr val="0F172A"/>
                </a:solidFill>
                <a:latin typeface="Calibri" pitchFamily="34" charset="0"/>
                <a:ea typeface="Calibri" pitchFamily="34" charset="-122"/>
                <a:cs typeface="Calibri" pitchFamily="34" charset="-120"/>
              </a:rPr>
              <a:t>n</a:t>
            </a:r>
            <a:endParaRPr lang="en-US" sz="2200" dirty="0"/>
          </a:p>
        </p:txBody>
      </p:sp>
      <p:sp>
        <p:nvSpPr>
          <p:cNvPr id="4" name="Text 2"/>
          <p:cNvSpPr/>
          <p:nvPr/>
        </p:nvSpPr>
        <p:spPr>
          <a:xfrm>
            <a:off x="548640" y="868680"/>
            <a:ext cx="10972800" cy="640080"/>
          </a:xfrm>
          <a:prstGeom prst="rect">
            <a:avLst/>
          </a:prstGeom>
          <a:noFill/>
          <a:ln/>
        </p:spPr>
        <p:txBody>
          <a:bodyPr wrap="square" lIns="0" tIns="0" rIns="0" bIns="0" rtlCol="0" anchor="ctr"/>
          <a:lstStyle/>
          <a:p>
            <a:pPr marL="0" indent="0">
              <a:buNone/>
            </a:pPr>
            <a:r>
              <a:rPr lang="en-US" sz="4000" b="1" dirty="0">
                <a:solidFill>
                  <a:srgbClr val="0F172A"/>
                </a:solidFill>
                <a:latin typeface="Calibri" pitchFamily="34" charset="0"/>
                <a:ea typeface="Calibri" pitchFamily="34" charset="-122"/>
                <a:cs typeface="Calibri" pitchFamily="34" charset="-120"/>
              </a:rPr>
              <a:t>The gap</a:t>
            </a:r>
            <a:endParaRPr lang="en-US" sz="4000" dirty="0"/>
          </a:p>
        </p:txBody>
      </p:sp>
      <p:sp>
        <p:nvSpPr>
          <p:cNvPr id="5" name="Text 3"/>
          <p:cNvSpPr/>
          <p:nvPr/>
        </p:nvSpPr>
        <p:spPr>
          <a:xfrm>
            <a:off x="548640" y="1508760"/>
            <a:ext cx="10972800" cy="41148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Same models. Same tooling. Wildly different adoption.</a:t>
            </a:r>
            <a:endParaRPr lang="en-US" sz="1800" dirty="0"/>
          </a:p>
        </p:txBody>
      </p:sp>
      <p:sp>
        <p:nvSpPr>
          <p:cNvPr id="6" name="Shape 4"/>
          <p:cNvSpPr/>
          <p:nvPr/>
        </p:nvSpPr>
        <p:spPr>
          <a:xfrm>
            <a:off x="548640" y="2286000"/>
            <a:ext cx="5394960" cy="365760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7" name="Shape 5"/>
          <p:cNvSpPr/>
          <p:nvPr/>
        </p:nvSpPr>
        <p:spPr>
          <a:xfrm>
            <a:off x="548640" y="2286000"/>
            <a:ext cx="5394960" cy="73152"/>
          </a:xfrm>
          <a:prstGeom prst="rect">
            <a:avLst/>
          </a:prstGeom>
          <a:solidFill>
            <a:srgbClr val="10B981"/>
          </a:solidFill>
          <a:ln/>
        </p:spPr>
        <p:txBody>
          <a:bodyPr/>
          <a:lstStyle/>
          <a:p>
            <a:endParaRPr lang="de-DE"/>
          </a:p>
        </p:txBody>
      </p:sp>
      <p:sp>
        <p:nvSpPr>
          <p:cNvPr id="8" name="Text 6"/>
          <p:cNvSpPr/>
          <p:nvPr/>
        </p:nvSpPr>
        <p:spPr>
          <a:xfrm>
            <a:off x="914400" y="2560320"/>
            <a:ext cx="4663440" cy="320040"/>
          </a:xfrm>
          <a:prstGeom prst="rect">
            <a:avLst/>
          </a:prstGeom>
          <a:noFill/>
          <a:ln/>
        </p:spPr>
        <p:txBody>
          <a:bodyPr wrap="square" lIns="0" tIns="0" rIns="0" bIns="0" rtlCol="0" anchor="ctr"/>
          <a:lstStyle/>
          <a:p>
            <a:pPr marL="0" indent="0">
              <a:buNone/>
            </a:pPr>
            <a:r>
              <a:rPr lang="en-US" sz="1100" b="1" kern="0" spc="400" dirty="0">
                <a:solidFill>
                  <a:srgbClr val="10B981"/>
                </a:solidFill>
                <a:latin typeface="Calibri" pitchFamily="34" charset="0"/>
                <a:ea typeface="Calibri" pitchFamily="34" charset="-122"/>
                <a:cs typeface="Calibri" pitchFamily="34" charset="-120"/>
              </a:rPr>
              <a:t>SOFTWARE ENGINEERING</a:t>
            </a:r>
            <a:endParaRPr lang="en-US" sz="1100" dirty="0"/>
          </a:p>
        </p:txBody>
      </p:sp>
      <p:sp>
        <p:nvSpPr>
          <p:cNvPr id="9" name="Text 7"/>
          <p:cNvSpPr/>
          <p:nvPr/>
        </p:nvSpPr>
        <p:spPr>
          <a:xfrm>
            <a:off x="914400" y="2926080"/>
            <a:ext cx="4663440" cy="640080"/>
          </a:xfrm>
          <a:prstGeom prst="rect">
            <a:avLst/>
          </a:prstGeom>
          <a:noFill/>
          <a:ln/>
        </p:spPr>
        <p:txBody>
          <a:bodyPr wrap="square" lIns="0" tIns="0" rIns="0" bIns="0" rtlCol="0" anchor="ctr"/>
          <a:lstStyle/>
          <a:p>
            <a:pPr marL="0" indent="0">
              <a:buNone/>
            </a:pPr>
            <a:r>
              <a:rPr lang="en-US" sz="2400" b="1" dirty="0">
                <a:solidFill>
                  <a:srgbClr val="0F172A"/>
                </a:solidFill>
                <a:latin typeface="Calibri" pitchFamily="34" charset="0"/>
                <a:ea typeface="Calibri" pitchFamily="34" charset="-122"/>
                <a:cs typeface="Calibri" pitchFamily="34" charset="-120"/>
              </a:rPr>
              <a:t>Massive AI productivity gains</a:t>
            </a:r>
            <a:endParaRPr lang="en-US" sz="2400" dirty="0"/>
          </a:p>
        </p:txBody>
      </p:sp>
      <p:sp>
        <p:nvSpPr>
          <p:cNvPr id="10" name="Text 8"/>
          <p:cNvSpPr/>
          <p:nvPr/>
        </p:nvSpPr>
        <p:spPr>
          <a:xfrm>
            <a:off x="914400" y="3474720"/>
            <a:ext cx="4663440" cy="3657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Software engineering has been transformed.</a:t>
            </a:r>
            <a:endParaRPr lang="en-US" sz="1300" dirty="0"/>
          </a:p>
        </p:txBody>
      </p:sp>
      <p:sp>
        <p:nvSpPr>
          <p:cNvPr id="11" name="Text 9"/>
          <p:cNvSpPr/>
          <p:nvPr/>
        </p:nvSpPr>
        <p:spPr>
          <a:xfrm>
            <a:off x="914400" y="3977640"/>
            <a:ext cx="4663440" cy="182880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Pull requests reviewed by agents</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Tickets closed end-to-end</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Weeks of work, now hours</a:t>
            </a:r>
            <a:endParaRPr lang="en-US" sz="1600" dirty="0"/>
          </a:p>
        </p:txBody>
      </p:sp>
      <p:sp>
        <p:nvSpPr>
          <p:cNvPr id="12" name="Shape 10"/>
          <p:cNvSpPr/>
          <p:nvPr/>
        </p:nvSpPr>
        <p:spPr>
          <a:xfrm>
            <a:off x="6309360" y="2286000"/>
            <a:ext cx="5394960" cy="365760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3" name="Shape 11"/>
          <p:cNvSpPr/>
          <p:nvPr/>
        </p:nvSpPr>
        <p:spPr>
          <a:xfrm>
            <a:off x="6309360" y="2286000"/>
            <a:ext cx="5394960" cy="73152"/>
          </a:xfrm>
          <a:prstGeom prst="rect">
            <a:avLst/>
          </a:prstGeom>
          <a:solidFill>
            <a:srgbClr val="EF4444"/>
          </a:solidFill>
          <a:ln/>
        </p:spPr>
        <p:txBody>
          <a:bodyPr/>
          <a:lstStyle/>
          <a:p>
            <a:endParaRPr lang="de-DE"/>
          </a:p>
        </p:txBody>
      </p:sp>
      <p:sp>
        <p:nvSpPr>
          <p:cNvPr id="14" name="Text 12"/>
          <p:cNvSpPr/>
          <p:nvPr/>
        </p:nvSpPr>
        <p:spPr>
          <a:xfrm>
            <a:off x="6675120" y="2560320"/>
            <a:ext cx="4663440" cy="320040"/>
          </a:xfrm>
          <a:prstGeom prst="rect">
            <a:avLst/>
          </a:prstGeom>
          <a:noFill/>
          <a:ln/>
        </p:spPr>
        <p:txBody>
          <a:bodyPr wrap="square" lIns="0" tIns="0" rIns="0" bIns="0" rtlCol="0" anchor="ctr"/>
          <a:lstStyle/>
          <a:p>
            <a:pPr marL="0" indent="0">
              <a:buNone/>
            </a:pPr>
            <a:r>
              <a:rPr lang="en-US" sz="1100" b="1" kern="0" spc="400" dirty="0">
                <a:solidFill>
                  <a:srgbClr val="EF4444"/>
                </a:solidFill>
                <a:latin typeface="Calibri" pitchFamily="34" charset="0"/>
                <a:ea typeface="Calibri" pitchFamily="34" charset="-122"/>
                <a:cs typeface="Calibri" pitchFamily="34" charset="-120"/>
              </a:rPr>
              <a:t>REGULATED INDUSTRIES</a:t>
            </a:r>
            <a:endParaRPr lang="en-US" sz="1100" dirty="0"/>
          </a:p>
        </p:txBody>
      </p:sp>
      <p:sp>
        <p:nvSpPr>
          <p:cNvPr id="15" name="Text 13"/>
          <p:cNvSpPr/>
          <p:nvPr/>
        </p:nvSpPr>
        <p:spPr>
          <a:xfrm>
            <a:off x="6675120" y="2926080"/>
            <a:ext cx="4663440" cy="640080"/>
          </a:xfrm>
          <a:prstGeom prst="rect">
            <a:avLst/>
          </a:prstGeom>
          <a:noFill/>
          <a:ln/>
        </p:spPr>
        <p:txBody>
          <a:bodyPr wrap="square" lIns="0" tIns="0" rIns="0" bIns="0" rtlCol="0" anchor="ctr"/>
          <a:lstStyle/>
          <a:p>
            <a:pPr marL="0" indent="0">
              <a:buNone/>
            </a:pPr>
            <a:r>
              <a:rPr lang="en-US" sz="2400" b="1" dirty="0">
                <a:solidFill>
                  <a:srgbClr val="0F172A"/>
                </a:solidFill>
                <a:latin typeface="Calibri" pitchFamily="34" charset="0"/>
                <a:ea typeface="Calibri" pitchFamily="34" charset="-122"/>
                <a:cs typeface="Calibri" pitchFamily="34" charset="-120"/>
              </a:rPr>
              <a:t>Adoption is dramatically slower</a:t>
            </a:r>
            <a:endParaRPr lang="en-US" sz="2400" dirty="0"/>
          </a:p>
        </p:txBody>
      </p:sp>
      <p:sp>
        <p:nvSpPr>
          <p:cNvPr id="16" name="Text 14"/>
          <p:cNvSpPr/>
          <p:nvPr/>
        </p:nvSpPr>
        <p:spPr>
          <a:xfrm>
            <a:off x="6675120" y="3474720"/>
            <a:ext cx="4663440" cy="3657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Accounting, law, banking, logistics, public sector, health.</a:t>
            </a:r>
            <a:endParaRPr lang="en-US" sz="1300" dirty="0"/>
          </a:p>
        </p:txBody>
      </p:sp>
      <p:sp>
        <p:nvSpPr>
          <p:cNvPr id="17" name="Text 15"/>
          <p:cNvSpPr/>
          <p:nvPr/>
        </p:nvSpPr>
        <p:spPr>
          <a:xfrm>
            <a:off x="6675120" y="3977640"/>
            <a:ext cx="4663440" cy="182880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Same models, same APIs, same agents</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Same talent pool, same tooling</a:t>
            </a:r>
            <a:endParaRPr lang="en-US" sz="1600" dirty="0"/>
          </a:p>
          <a:p>
            <a:pPr marL="342900" indent="-342900">
              <a:spcAft>
                <a:spcPts val="800"/>
              </a:spcAft>
              <a:buSzPct val="100000"/>
              <a:buChar char="•"/>
            </a:pPr>
            <a:r>
              <a:rPr lang="en-US" sz="1600" b="1" dirty="0">
                <a:solidFill>
                  <a:srgbClr val="0F172A"/>
                </a:solidFill>
                <a:latin typeface="Calibri" pitchFamily="34" charset="0"/>
                <a:ea typeface="Calibri" pitchFamily="34" charset="-122"/>
                <a:cs typeface="Calibri" pitchFamily="34" charset="-120"/>
              </a:rPr>
              <a:t>So what is actually different?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502920" y="292608"/>
            <a:ext cx="1207008" cy="502920"/>
          </a:xfrm>
          <a:prstGeom prst="rect">
            <a:avLst/>
          </a:prstGeom>
          <a:solidFill>
            <a:srgbClr val="FFFFFF"/>
          </a:solidFill>
          <a:ln/>
        </p:spPr>
        <p:txBody>
          <a:bodyPr/>
          <a:lstStyle/>
          <a:p>
            <a:endParaRPr lang="de-DE"/>
          </a:p>
        </p:txBody>
      </p:sp>
      <p:sp>
        <p:nvSpPr>
          <p:cNvPr id="3" name="Text 1"/>
          <p:cNvSpPr/>
          <p:nvPr/>
        </p:nvSpPr>
        <p:spPr>
          <a:xfrm>
            <a:off x="502920" y="292608"/>
            <a:ext cx="1207008" cy="50292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ch</a:t>
            </a:r>
            <a:r>
              <a:rPr lang="en-US" sz="2200" b="1" dirty="0">
                <a:solidFill>
                  <a:srgbClr val="38BDF8"/>
                </a:solidFill>
                <a:latin typeface="Calibri" pitchFamily="34" charset="0"/>
                <a:ea typeface="Calibri" pitchFamily="34" charset="-122"/>
                <a:cs typeface="Calibri" pitchFamily="34" charset="-120"/>
              </a:rPr>
              <a:t>AI</a:t>
            </a:r>
            <a:r>
              <a:rPr lang="en-US" sz="2200" b="1" dirty="0">
                <a:solidFill>
                  <a:srgbClr val="0F172A"/>
                </a:solidFill>
                <a:latin typeface="Calibri" pitchFamily="34" charset="0"/>
                <a:ea typeface="Calibri" pitchFamily="34" charset="-122"/>
                <a:cs typeface="Calibri" pitchFamily="34" charset="-120"/>
              </a:rPr>
              <a:t>n</a:t>
            </a:r>
            <a:endParaRPr lang="en-US" sz="2200" dirty="0"/>
          </a:p>
        </p:txBody>
      </p:sp>
      <p:sp>
        <p:nvSpPr>
          <p:cNvPr id="4" name="Text 2"/>
          <p:cNvSpPr/>
          <p:nvPr/>
        </p:nvSpPr>
        <p:spPr>
          <a:xfrm>
            <a:off x="548640" y="868680"/>
            <a:ext cx="10972800" cy="640080"/>
          </a:xfrm>
          <a:prstGeom prst="rect">
            <a:avLst/>
          </a:prstGeom>
          <a:noFill/>
          <a:ln/>
        </p:spPr>
        <p:txBody>
          <a:bodyPr wrap="square" lIns="0" tIns="0" rIns="0" bIns="0" rtlCol="0" anchor="ctr"/>
          <a:lstStyle/>
          <a:p>
            <a:pPr marL="0" indent="0">
              <a:buNone/>
            </a:pPr>
            <a:r>
              <a:rPr lang="en-US" sz="4000" b="1" dirty="0">
                <a:solidFill>
                  <a:srgbClr val="0F172A"/>
                </a:solidFill>
                <a:latin typeface="Calibri" pitchFamily="34" charset="0"/>
                <a:ea typeface="Calibri" pitchFamily="34" charset="-122"/>
                <a:cs typeface="Calibri" pitchFamily="34" charset="-120"/>
              </a:rPr>
              <a:t>It's the data.</a:t>
            </a:r>
            <a:endParaRPr lang="en-US" sz="4000" dirty="0"/>
          </a:p>
        </p:txBody>
      </p:sp>
      <p:sp>
        <p:nvSpPr>
          <p:cNvPr id="5" name="Text 3"/>
          <p:cNvSpPr/>
          <p:nvPr/>
        </p:nvSpPr>
        <p:spPr>
          <a:xfrm>
            <a:off x="548640" y="1508760"/>
            <a:ext cx="10972800" cy="41148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These sectors run on data that is, by definition, private.</a:t>
            </a:r>
            <a:endParaRPr lang="en-US" sz="1800" dirty="0"/>
          </a:p>
        </p:txBody>
      </p:sp>
      <p:sp>
        <p:nvSpPr>
          <p:cNvPr id="6" name="Shape 4"/>
          <p:cNvSpPr/>
          <p:nvPr/>
        </p:nvSpPr>
        <p:spPr>
          <a:xfrm>
            <a:off x="548640" y="2331720"/>
            <a:ext cx="2697480" cy="77724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7" name="Shape 5"/>
          <p:cNvSpPr/>
          <p:nvPr/>
        </p:nvSpPr>
        <p:spPr>
          <a:xfrm>
            <a:off x="777240" y="2642616"/>
            <a:ext cx="164592" cy="164592"/>
          </a:xfrm>
          <a:prstGeom prst="ellipse">
            <a:avLst/>
          </a:prstGeom>
          <a:solidFill>
            <a:srgbClr val="EF4444"/>
          </a:solidFill>
          <a:ln/>
        </p:spPr>
        <p:txBody>
          <a:bodyPr/>
          <a:lstStyle/>
          <a:p>
            <a:endParaRPr lang="de-DE"/>
          </a:p>
        </p:txBody>
      </p:sp>
      <p:sp>
        <p:nvSpPr>
          <p:cNvPr id="8" name="Text 6"/>
          <p:cNvSpPr/>
          <p:nvPr/>
        </p:nvSpPr>
        <p:spPr>
          <a:xfrm>
            <a:off x="1051560" y="2331720"/>
            <a:ext cx="2057400" cy="7772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Government IDs</a:t>
            </a:r>
            <a:endParaRPr lang="en-US" sz="1400" dirty="0"/>
          </a:p>
        </p:txBody>
      </p:sp>
      <p:sp>
        <p:nvSpPr>
          <p:cNvPr id="9" name="Shape 7"/>
          <p:cNvSpPr/>
          <p:nvPr/>
        </p:nvSpPr>
        <p:spPr>
          <a:xfrm>
            <a:off x="3383280" y="2331720"/>
            <a:ext cx="2697480" cy="77724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0" name="Shape 8"/>
          <p:cNvSpPr/>
          <p:nvPr/>
        </p:nvSpPr>
        <p:spPr>
          <a:xfrm>
            <a:off x="3611880" y="2642616"/>
            <a:ext cx="164592" cy="164592"/>
          </a:xfrm>
          <a:prstGeom prst="ellipse">
            <a:avLst/>
          </a:prstGeom>
          <a:solidFill>
            <a:srgbClr val="EF4444"/>
          </a:solidFill>
          <a:ln/>
        </p:spPr>
        <p:txBody>
          <a:bodyPr/>
          <a:lstStyle/>
          <a:p>
            <a:endParaRPr lang="de-DE"/>
          </a:p>
        </p:txBody>
      </p:sp>
      <p:sp>
        <p:nvSpPr>
          <p:cNvPr id="11" name="Text 9"/>
          <p:cNvSpPr/>
          <p:nvPr/>
        </p:nvSpPr>
        <p:spPr>
          <a:xfrm>
            <a:off x="3886200" y="2331720"/>
            <a:ext cx="2057400" cy="7772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Bank account numbers</a:t>
            </a:r>
            <a:endParaRPr lang="en-US" sz="1400" dirty="0"/>
          </a:p>
        </p:txBody>
      </p:sp>
      <p:sp>
        <p:nvSpPr>
          <p:cNvPr id="12" name="Shape 10"/>
          <p:cNvSpPr/>
          <p:nvPr/>
        </p:nvSpPr>
        <p:spPr>
          <a:xfrm>
            <a:off x="6217920" y="2331720"/>
            <a:ext cx="2697480" cy="77724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3" name="Shape 11"/>
          <p:cNvSpPr/>
          <p:nvPr/>
        </p:nvSpPr>
        <p:spPr>
          <a:xfrm>
            <a:off x="6446520" y="2642616"/>
            <a:ext cx="164592" cy="164592"/>
          </a:xfrm>
          <a:prstGeom prst="ellipse">
            <a:avLst/>
          </a:prstGeom>
          <a:solidFill>
            <a:srgbClr val="EF4444"/>
          </a:solidFill>
          <a:ln/>
        </p:spPr>
        <p:txBody>
          <a:bodyPr/>
          <a:lstStyle/>
          <a:p>
            <a:endParaRPr lang="de-DE"/>
          </a:p>
        </p:txBody>
      </p:sp>
      <p:sp>
        <p:nvSpPr>
          <p:cNvPr id="14" name="Text 12"/>
          <p:cNvSpPr/>
          <p:nvPr/>
        </p:nvSpPr>
        <p:spPr>
          <a:xfrm>
            <a:off x="6720840" y="2331720"/>
            <a:ext cx="2057400" cy="7772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Client identities</a:t>
            </a:r>
            <a:endParaRPr lang="en-US" sz="1400" dirty="0"/>
          </a:p>
        </p:txBody>
      </p:sp>
      <p:sp>
        <p:nvSpPr>
          <p:cNvPr id="15" name="Shape 13"/>
          <p:cNvSpPr/>
          <p:nvPr/>
        </p:nvSpPr>
        <p:spPr>
          <a:xfrm>
            <a:off x="9052560" y="2331720"/>
            <a:ext cx="2697480" cy="77724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6" name="Shape 14"/>
          <p:cNvSpPr/>
          <p:nvPr/>
        </p:nvSpPr>
        <p:spPr>
          <a:xfrm>
            <a:off x="9281160" y="2642616"/>
            <a:ext cx="164592" cy="164592"/>
          </a:xfrm>
          <a:prstGeom prst="ellipse">
            <a:avLst/>
          </a:prstGeom>
          <a:solidFill>
            <a:srgbClr val="EF4444"/>
          </a:solidFill>
          <a:ln/>
        </p:spPr>
        <p:txBody>
          <a:bodyPr/>
          <a:lstStyle/>
          <a:p>
            <a:endParaRPr lang="de-DE"/>
          </a:p>
        </p:txBody>
      </p:sp>
      <p:sp>
        <p:nvSpPr>
          <p:cNvPr id="17" name="Text 15"/>
          <p:cNvSpPr/>
          <p:nvPr/>
        </p:nvSpPr>
        <p:spPr>
          <a:xfrm>
            <a:off x="9555480" y="2331720"/>
            <a:ext cx="2057400" cy="7772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Patient records</a:t>
            </a:r>
            <a:endParaRPr lang="en-US" sz="1400" dirty="0"/>
          </a:p>
        </p:txBody>
      </p:sp>
      <p:sp>
        <p:nvSpPr>
          <p:cNvPr id="18" name="Shape 16"/>
          <p:cNvSpPr/>
          <p:nvPr/>
        </p:nvSpPr>
        <p:spPr>
          <a:xfrm>
            <a:off x="548640" y="3337560"/>
            <a:ext cx="2697480" cy="77724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9" name="Shape 17"/>
          <p:cNvSpPr/>
          <p:nvPr/>
        </p:nvSpPr>
        <p:spPr>
          <a:xfrm>
            <a:off x="777240" y="3648456"/>
            <a:ext cx="164592" cy="164592"/>
          </a:xfrm>
          <a:prstGeom prst="ellipse">
            <a:avLst/>
          </a:prstGeom>
          <a:solidFill>
            <a:srgbClr val="EF4444"/>
          </a:solidFill>
          <a:ln/>
        </p:spPr>
        <p:txBody>
          <a:bodyPr/>
          <a:lstStyle/>
          <a:p>
            <a:endParaRPr lang="de-DE"/>
          </a:p>
        </p:txBody>
      </p:sp>
      <p:sp>
        <p:nvSpPr>
          <p:cNvPr id="20" name="Text 18"/>
          <p:cNvSpPr/>
          <p:nvPr/>
        </p:nvSpPr>
        <p:spPr>
          <a:xfrm>
            <a:off x="1051560" y="3337560"/>
            <a:ext cx="2057400" cy="7772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Confidential contracts</a:t>
            </a:r>
            <a:endParaRPr lang="en-US" sz="1400" dirty="0"/>
          </a:p>
        </p:txBody>
      </p:sp>
      <p:sp>
        <p:nvSpPr>
          <p:cNvPr id="21" name="Shape 19"/>
          <p:cNvSpPr/>
          <p:nvPr/>
        </p:nvSpPr>
        <p:spPr>
          <a:xfrm>
            <a:off x="3383280" y="3337560"/>
            <a:ext cx="2697480" cy="77724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22" name="Shape 20"/>
          <p:cNvSpPr/>
          <p:nvPr/>
        </p:nvSpPr>
        <p:spPr>
          <a:xfrm>
            <a:off x="3611880" y="3648456"/>
            <a:ext cx="164592" cy="164592"/>
          </a:xfrm>
          <a:prstGeom prst="ellipse">
            <a:avLst/>
          </a:prstGeom>
          <a:solidFill>
            <a:srgbClr val="EF4444"/>
          </a:solidFill>
          <a:ln/>
        </p:spPr>
        <p:txBody>
          <a:bodyPr/>
          <a:lstStyle/>
          <a:p>
            <a:endParaRPr lang="de-DE"/>
          </a:p>
        </p:txBody>
      </p:sp>
      <p:sp>
        <p:nvSpPr>
          <p:cNvPr id="23" name="Text 21"/>
          <p:cNvSpPr/>
          <p:nvPr/>
        </p:nvSpPr>
        <p:spPr>
          <a:xfrm>
            <a:off x="3886200" y="3337560"/>
            <a:ext cx="2057400" cy="7772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Credentials &amp; API keys</a:t>
            </a:r>
            <a:endParaRPr lang="en-US" sz="1400" dirty="0"/>
          </a:p>
        </p:txBody>
      </p:sp>
      <p:sp>
        <p:nvSpPr>
          <p:cNvPr id="24" name="Shape 22"/>
          <p:cNvSpPr/>
          <p:nvPr/>
        </p:nvSpPr>
        <p:spPr>
          <a:xfrm>
            <a:off x="6217920" y="3337560"/>
            <a:ext cx="2697480" cy="77724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25" name="Shape 23"/>
          <p:cNvSpPr/>
          <p:nvPr/>
        </p:nvSpPr>
        <p:spPr>
          <a:xfrm>
            <a:off x="6446520" y="3648456"/>
            <a:ext cx="164592" cy="164592"/>
          </a:xfrm>
          <a:prstGeom prst="ellipse">
            <a:avLst/>
          </a:prstGeom>
          <a:solidFill>
            <a:srgbClr val="EF4444"/>
          </a:solidFill>
          <a:ln/>
        </p:spPr>
        <p:txBody>
          <a:bodyPr/>
          <a:lstStyle/>
          <a:p>
            <a:endParaRPr lang="de-DE"/>
          </a:p>
        </p:txBody>
      </p:sp>
      <p:sp>
        <p:nvSpPr>
          <p:cNvPr id="26" name="Text 24"/>
          <p:cNvSpPr/>
          <p:nvPr/>
        </p:nvSpPr>
        <p:spPr>
          <a:xfrm>
            <a:off x="6720840" y="3337560"/>
            <a:ext cx="2057400" cy="7772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Stakeholder comms</a:t>
            </a:r>
            <a:endParaRPr lang="en-US" sz="1400" dirty="0"/>
          </a:p>
        </p:txBody>
      </p:sp>
      <p:sp>
        <p:nvSpPr>
          <p:cNvPr id="27" name="Shape 25"/>
          <p:cNvSpPr/>
          <p:nvPr/>
        </p:nvSpPr>
        <p:spPr>
          <a:xfrm>
            <a:off x="9052560" y="3337560"/>
            <a:ext cx="2697480" cy="77724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28" name="Shape 26"/>
          <p:cNvSpPr/>
          <p:nvPr/>
        </p:nvSpPr>
        <p:spPr>
          <a:xfrm>
            <a:off x="9281160" y="3648456"/>
            <a:ext cx="164592" cy="164592"/>
          </a:xfrm>
          <a:prstGeom prst="ellipse">
            <a:avLst/>
          </a:prstGeom>
          <a:solidFill>
            <a:srgbClr val="EF4444"/>
          </a:solidFill>
          <a:ln/>
        </p:spPr>
        <p:txBody>
          <a:bodyPr/>
          <a:lstStyle/>
          <a:p>
            <a:endParaRPr lang="de-DE"/>
          </a:p>
        </p:txBody>
      </p:sp>
      <p:sp>
        <p:nvSpPr>
          <p:cNvPr id="29" name="Text 27"/>
          <p:cNvSpPr/>
          <p:nvPr/>
        </p:nvSpPr>
        <p:spPr>
          <a:xfrm>
            <a:off x="9555480" y="3337560"/>
            <a:ext cx="2057400" cy="7772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Tax filings</a:t>
            </a:r>
            <a:endParaRPr lang="en-US" sz="1400" dirty="0"/>
          </a:p>
        </p:txBody>
      </p:sp>
      <p:sp>
        <p:nvSpPr>
          <p:cNvPr id="30" name="Shape 28"/>
          <p:cNvSpPr/>
          <p:nvPr/>
        </p:nvSpPr>
        <p:spPr>
          <a:xfrm>
            <a:off x="548640" y="4937760"/>
            <a:ext cx="11091672" cy="1417320"/>
          </a:xfrm>
          <a:prstGeom prst="rect">
            <a:avLst/>
          </a:prstGeom>
          <a:solidFill>
            <a:srgbClr val="1E2761"/>
          </a:solidFill>
          <a:ln/>
          <a:effectLst>
            <a:outerShdw blurRad="228600" dist="38100" dir="5400000" algn="bl" rotWithShape="0">
              <a:srgbClr val="000000">
                <a:alpha val="10000"/>
              </a:srgbClr>
            </a:outerShdw>
          </a:effectLst>
        </p:spPr>
        <p:txBody>
          <a:bodyPr/>
          <a:lstStyle/>
          <a:p>
            <a:endParaRPr lang="de-DE"/>
          </a:p>
        </p:txBody>
      </p:sp>
      <p:sp>
        <p:nvSpPr>
          <p:cNvPr id="31" name="Text 29"/>
          <p:cNvSpPr/>
          <p:nvPr/>
        </p:nvSpPr>
        <p:spPr>
          <a:xfrm>
            <a:off x="822960" y="5074920"/>
            <a:ext cx="10515600" cy="548640"/>
          </a:xfrm>
          <a:prstGeom prst="rect">
            <a:avLst/>
          </a:prstGeom>
          <a:noFill/>
          <a:ln/>
        </p:spPr>
        <p:txBody>
          <a:bodyPr wrap="square" lIns="0" tIns="0" rIns="0" bIns="0" rtlCol="0" anchor="ctr"/>
          <a:lstStyle/>
          <a:p>
            <a:pPr marL="0" indent="0">
              <a:buNone/>
            </a:pPr>
            <a:r>
              <a:rPr lang="en-US" sz="2000" b="1" dirty="0">
                <a:solidFill>
                  <a:srgbClr val="F8FAFC"/>
                </a:solidFill>
                <a:latin typeface="Calibri" pitchFamily="34" charset="0"/>
                <a:ea typeface="Calibri" pitchFamily="34" charset="-122"/>
                <a:cs typeface="Calibri" pitchFamily="34" charset="-120"/>
              </a:rPr>
              <a:t>You cannot legally — or practically — paste this into a third-party model.</a:t>
            </a:r>
            <a:endParaRPr lang="en-US" sz="2000" dirty="0"/>
          </a:p>
        </p:txBody>
      </p:sp>
      <p:sp>
        <p:nvSpPr>
          <p:cNvPr id="32" name="Text 30"/>
          <p:cNvSpPr/>
          <p:nvPr/>
        </p:nvSpPr>
        <p:spPr>
          <a:xfrm>
            <a:off x="822960" y="5623560"/>
            <a:ext cx="105156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So the people who would benefit most from AI are the people who can use it least.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502920" y="292608"/>
            <a:ext cx="1207008" cy="502920"/>
          </a:xfrm>
          <a:prstGeom prst="rect">
            <a:avLst/>
          </a:prstGeom>
          <a:solidFill>
            <a:srgbClr val="FFFFFF"/>
          </a:solidFill>
          <a:ln/>
        </p:spPr>
        <p:txBody>
          <a:bodyPr/>
          <a:lstStyle/>
          <a:p>
            <a:endParaRPr lang="de-DE"/>
          </a:p>
        </p:txBody>
      </p:sp>
      <p:sp>
        <p:nvSpPr>
          <p:cNvPr id="3" name="Text 1"/>
          <p:cNvSpPr/>
          <p:nvPr/>
        </p:nvSpPr>
        <p:spPr>
          <a:xfrm>
            <a:off x="502920" y="292608"/>
            <a:ext cx="1207008" cy="50292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ch</a:t>
            </a:r>
            <a:r>
              <a:rPr lang="en-US" sz="2200" b="1" dirty="0">
                <a:solidFill>
                  <a:srgbClr val="38BDF8"/>
                </a:solidFill>
                <a:latin typeface="Calibri" pitchFamily="34" charset="0"/>
                <a:ea typeface="Calibri" pitchFamily="34" charset="-122"/>
                <a:cs typeface="Calibri" pitchFamily="34" charset="-120"/>
              </a:rPr>
              <a:t>AI</a:t>
            </a:r>
            <a:r>
              <a:rPr lang="en-US" sz="2200" b="1" dirty="0">
                <a:solidFill>
                  <a:srgbClr val="0F172A"/>
                </a:solidFill>
                <a:latin typeface="Calibri" pitchFamily="34" charset="0"/>
                <a:ea typeface="Calibri" pitchFamily="34" charset="-122"/>
                <a:cs typeface="Calibri" pitchFamily="34" charset="-120"/>
              </a:rPr>
              <a:t>n</a:t>
            </a:r>
            <a:endParaRPr lang="en-US" sz="2200" dirty="0"/>
          </a:p>
        </p:txBody>
      </p:sp>
      <p:sp>
        <p:nvSpPr>
          <p:cNvPr id="4" name="Text 2"/>
          <p:cNvSpPr/>
          <p:nvPr/>
        </p:nvSpPr>
        <p:spPr>
          <a:xfrm>
            <a:off x="548640" y="868680"/>
            <a:ext cx="10972800" cy="640080"/>
          </a:xfrm>
          <a:prstGeom prst="rect">
            <a:avLst/>
          </a:prstGeom>
          <a:noFill/>
          <a:ln/>
        </p:spPr>
        <p:txBody>
          <a:bodyPr wrap="square" lIns="0" tIns="0" rIns="0" bIns="0" rtlCol="0" anchor="ctr"/>
          <a:lstStyle/>
          <a:p>
            <a:pPr marL="0" indent="0">
              <a:buNone/>
            </a:pPr>
            <a:r>
              <a:rPr lang="en-US" sz="4000" b="1" dirty="0">
                <a:solidFill>
                  <a:srgbClr val="0F172A"/>
                </a:solidFill>
                <a:latin typeface="Calibri" pitchFamily="34" charset="0"/>
                <a:ea typeface="Calibri" pitchFamily="34" charset="-122"/>
                <a:cs typeface="Calibri" pitchFamily="34" charset="-120"/>
              </a:rPr>
              <a:t>The second-order effect.</a:t>
            </a:r>
            <a:endParaRPr lang="en-US" sz="4000" dirty="0"/>
          </a:p>
        </p:txBody>
      </p:sp>
      <p:sp>
        <p:nvSpPr>
          <p:cNvPr id="5" name="Text 3"/>
          <p:cNvSpPr/>
          <p:nvPr/>
        </p:nvSpPr>
        <p:spPr>
          <a:xfrm>
            <a:off x="548640" y="1508760"/>
            <a:ext cx="10972800" cy="41148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No safe place to share real problems means no corpus for agents to learn from.</a:t>
            </a:r>
            <a:endParaRPr lang="en-US" sz="1800" dirty="0"/>
          </a:p>
        </p:txBody>
      </p:sp>
      <p:sp>
        <p:nvSpPr>
          <p:cNvPr id="6" name="Shape 4"/>
          <p:cNvSpPr/>
          <p:nvPr/>
        </p:nvSpPr>
        <p:spPr>
          <a:xfrm>
            <a:off x="548640" y="2468880"/>
            <a:ext cx="2606040" cy="292608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7" name="Text 5"/>
          <p:cNvSpPr/>
          <p:nvPr/>
        </p:nvSpPr>
        <p:spPr>
          <a:xfrm>
            <a:off x="822960" y="2697480"/>
            <a:ext cx="2057400" cy="411480"/>
          </a:xfrm>
          <a:prstGeom prst="rect">
            <a:avLst/>
          </a:prstGeom>
          <a:noFill/>
          <a:ln/>
        </p:spPr>
        <p:txBody>
          <a:bodyPr wrap="square" lIns="0" tIns="0" rIns="0" bIns="0" rtlCol="0" anchor="ctr"/>
          <a:lstStyle/>
          <a:p>
            <a:pPr marL="0" indent="0">
              <a:buNone/>
            </a:pPr>
            <a:r>
              <a:rPr lang="en-US" sz="1400" b="1" kern="0" spc="400" dirty="0">
                <a:solidFill>
                  <a:srgbClr val="38BDF8"/>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822960" y="3154680"/>
            <a:ext cx="2057400" cy="8229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Cases stay private</a:t>
            </a:r>
            <a:endParaRPr lang="en-US" sz="1800" dirty="0"/>
          </a:p>
        </p:txBody>
      </p:sp>
      <p:sp>
        <p:nvSpPr>
          <p:cNvPr id="9" name="Text 7"/>
          <p:cNvSpPr/>
          <p:nvPr/>
        </p:nvSpPr>
        <p:spPr>
          <a:xfrm>
            <a:off x="822960" y="4023360"/>
            <a:ext cx="2057400" cy="12801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Confidential by law and practice.</a:t>
            </a:r>
            <a:endParaRPr lang="en-US" sz="1300" dirty="0"/>
          </a:p>
        </p:txBody>
      </p:sp>
      <p:sp>
        <p:nvSpPr>
          <p:cNvPr id="10" name="Text 8"/>
          <p:cNvSpPr/>
          <p:nvPr/>
        </p:nvSpPr>
        <p:spPr>
          <a:xfrm>
            <a:off x="3172968" y="3611880"/>
            <a:ext cx="228600" cy="548640"/>
          </a:xfrm>
          <a:prstGeom prst="rect">
            <a:avLst/>
          </a:prstGeom>
          <a:noFill/>
          <a:ln/>
        </p:spPr>
        <p:txBody>
          <a:bodyPr wrap="square" lIns="0" tIns="0" rIns="0" bIns="0" rtlCol="0" anchor="ctr"/>
          <a:lstStyle/>
          <a:p>
            <a:pPr marL="0" indent="0" algn="ctr">
              <a:buNone/>
            </a:pPr>
            <a:r>
              <a:rPr lang="en-US" sz="2800" b="1" dirty="0">
                <a:solidFill>
                  <a:srgbClr val="38BDF8"/>
                </a:solidFill>
                <a:latin typeface="Calibri" pitchFamily="34" charset="0"/>
                <a:ea typeface="Calibri" pitchFamily="34" charset="-122"/>
                <a:cs typeface="Calibri" pitchFamily="34" charset="-120"/>
              </a:rPr>
              <a:t>→</a:t>
            </a:r>
            <a:endParaRPr lang="en-US" sz="2800" dirty="0"/>
          </a:p>
        </p:txBody>
      </p:sp>
      <p:sp>
        <p:nvSpPr>
          <p:cNvPr id="11" name="Shape 9"/>
          <p:cNvSpPr/>
          <p:nvPr/>
        </p:nvSpPr>
        <p:spPr>
          <a:xfrm>
            <a:off x="3401568" y="2468880"/>
            <a:ext cx="2606040" cy="292608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2" name="Text 10"/>
          <p:cNvSpPr/>
          <p:nvPr/>
        </p:nvSpPr>
        <p:spPr>
          <a:xfrm>
            <a:off x="3675888" y="2697480"/>
            <a:ext cx="2057400" cy="411480"/>
          </a:xfrm>
          <a:prstGeom prst="rect">
            <a:avLst/>
          </a:prstGeom>
          <a:noFill/>
          <a:ln/>
        </p:spPr>
        <p:txBody>
          <a:bodyPr wrap="square" lIns="0" tIns="0" rIns="0" bIns="0" rtlCol="0" anchor="ctr"/>
          <a:lstStyle/>
          <a:p>
            <a:pPr marL="0" indent="0">
              <a:buNone/>
            </a:pPr>
            <a:r>
              <a:rPr lang="en-US" sz="1400" b="1" kern="0" spc="400" dirty="0">
                <a:solidFill>
                  <a:srgbClr val="38BDF8"/>
                </a:solidFill>
                <a:latin typeface="Calibri" pitchFamily="34" charset="0"/>
                <a:ea typeface="Calibri" pitchFamily="34" charset="-122"/>
                <a:cs typeface="Calibri" pitchFamily="34" charset="-120"/>
              </a:rPr>
              <a:t>02</a:t>
            </a:r>
            <a:endParaRPr lang="en-US" sz="1400" dirty="0"/>
          </a:p>
        </p:txBody>
      </p:sp>
      <p:sp>
        <p:nvSpPr>
          <p:cNvPr id="13" name="Text 11"/>
          <p:cNvSpPr/>
          <p:nvPr/>
        </p:nvSpPr>
        <p:spPr>
          <a:xfrm>
            <a:off x="3675888" y="3154680"/>
            <a:ext cx="2057400" cy="8229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No Stack Overflow</a:t>
            </a:r>
            <a:endParaRPr lang="en-US" sz="1800" dirty="0"/>
          </a:p>
        </p:txBody>
      </p:sp>
      <p:sp>
        <p:nvSpPr>
          <p:cNvPr id="14" name="Text 12"/>
          <p:cNvSpPr/>
          <p:nvPr/>
        </p:nvSpPr>
        <p:spPr>
          <a:xfrm>
            <a:off x="3675888" y="4023360"/>
            <a:ext cx="2057400" cy="12801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No public knowledge sharing in regulated work.</a:t>
            </a:r>
            <a:endParaRPr lang="en-US" sz="1300" dirty="0"/>
          </a:p>
        </p:txBody>
      </p:sp>
      <p:sp>
        <p:nvSpPr>
          <p:cNvPr id="15" name="Text 13"/>
          <p:cNvSpPr/>
          <p:nvPr/>
        </p:nvSpPr>
        <p:spPr>
          <a:xfrm>
            <a:off x="6025896" y="3611880"/>
            <a:ext cx="228600" cy="548640"/>
          </a:xfrm>
          <a:prstGeom prst="rect">
            <a:avLst/>
          </a:prstGeom>
          <a:noFill/>
          <a:ln/>
        </p:spPr>
        <p:txBody>
          <a:bodyPr wrap="square" lIns="0" tIns="0" rIns="0" bIns="0" rtlCol="0" anchor="ctr"/>
          <a:lstStyle/>
          <a:p>
            <a:pPr marL="0" indent="0" algn="ctr">
              <a:buNone/>
            </a:pPr>
            <a:r>
              <a:rPr lang="en-US" sz="2800" b="1" dirty="0">
                <a:solidFill>
                  <a:srgbClr val="38BDF8"/>
                </a:solidFill>
                <a:latin typeface="Calibri" pitchFamily="34" charset="0"/>
                <a:ea typeface="Calibri" pitchFamily="34" charset="-122"/>
                <a:cs typeface="Calibri" pitchFamily="34" charset="-120"/>
              </a:rPr>
              <a:t>→</a:t>
            </a:r>
            <a:endParaRPr lang="en-US" sz="2800" dirty="0"/>
          </a:p>
        </p:txBody>
      </p:sp>
      <p:sp>
        <p:nvSpPr>
          <p:cNvPr id="16" name="Shape 14"/>
          <p:cNvSpPr/>
          <p:nvPr/>
        </p:nvSpPr>
        <p:spPr>
          <a:xfrm>
            <a:off x="6254496" y="2468880"/>
            <a:ext cx="2606040" cy="292608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7" name="Text 15"/>
          <p:cNvSpPr/>
          <p:nvPr/>
        </p:nvSpPr>
        <p:spPr>
          <a:xfrm>
            <a:off x="6528816" y="2697480"/>
            <a:ext cx="2057400" cy="411480"/>
          </a:xfrm>
          <a:prstGeom prst="rect">
            <a:avLst/>
          </a:prstGeom>
          <a:noFill/>
          <a:ln/>
        </p:spPr>
        <p:txBody>
          <a:bodyPr wrap="square" lIns="0" tIns="0" rIns="0" bIns="0" rtlCol="0" anchor="ctr"/>
          <a:lstStyle/>
          <a:p>
            <a:pPr marL="0" indent="0">
              <a:buNone/>
            </a:pPr>
            <a:r>
              <a:rPr lang="en-US" sz="1400" b="1" kern="0" spc="400" dirty="0">
                <a:solidFill>
                  <a:srgbClr val="38BDF8"/>
                </a:solidFill>
                <a:latin typeface="Calibri" pitchFamily="34" charset="0"/>
                <a:ea typeface="Calibri" pitchFamily="34" charset="-122"/>
                <a:cs typeface="Calibri" pitchFamily="34" charset="-120"/>
              </a:rPr>
              <a:t>03</a:t>
            </a:r>
            <a:endParaRPr lang="en-US" sz="1400" dirty="0"/>
          </a:p>
        </p:txBody>
      </p:sp>
      <p:sp>
        <p:nvSpPr>
          <p:cNvPr id="18" name="Text 16"/>
          <p:cNvSpPr/>
          <p:nvPr/>
        </p:nvSpPr>
        <p:spPr>
          <a:xfrm>
            <a:off x="6528816" y="3154680"/>
            <a:ext cx="2057400" cy="8229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No corpus</a:t>
            </a:r>
            <a:endParaRPr lang="en-US" sz="1800" dirty="0"/>
          </a:p>
        </p:txBody>
      </p:sp>
      <p:sp>
        <p:nvSpPr>
          <p:cNvPr id="19" name="Text 17"/>
          <p:cNvSpPr/>
          <p:nvPr/>
        </p:nvSpPr>
        <p:spPr>
          <a:xfrm>
            <a:off x="6528816" y="4023360"/>
            <a:ext cx="2057400" cy="12801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Agents have nothing to learn from in domain.</a:t>
            </a:r>
            <a:endParaRPr lang="en-US" sz="1300" dirty="0"/>
          </a:p>
        </p:txBody>
      </p:sp>
      <p:sp>
        <p:nvSpPr>
          <p:cNvPr id="20" name="Text 18"/>
          <p:cNvSpPr/>
          <p:nvPr/>
        </p:nvSpPr>
        <p:spPr>
          <a:xfrm>
            <a:off x="8878824" y="3611880"/>
            <a:ext cx="228600" cy="548640"/>
          </a:xfrm>
          <a:prstGeom prst="rect">
            <a:avLst/>
          </a:prstGeom>
          <a:noFill/>
          <a:ln/>
        </p:spPr>
        <p:txBody>
          <a:bodyPr wrap="square" lIns="0" tIns="0" rIns="0" bIns="0" rtlCol="0" anchor="ctr"/>
          <a:lstStyle/>
          <a:p>
            <a:pPr marL="0" indent="0" algn="ctr">
              <a:buNone/>
            </a:pPr>
            <a:r>
              <a:rPr lang="en-US" sz="2800" b="1" dirty="0">
                <a:solidFill>
                  <a:srgbClr val="38BDF8"/>
                </a:solidFill>
                <a:latin typeface="Calibri" pitchFamily="34" charset="0"/>
                <a:ea typeface="Calibri" pitchFamily="34" charset="-122"/>
                <a:cs typeface="Calibri" pitchFamily="34" charset="-120"/>
              </a:rPr>
              <a:t>→</a:t>
            </a:r>
            <a:endParaRPr lang="en-US" sz="2800" dirty="0"/>
          </a:p>
        </p:txBody>
      </p:sp>
      <p:sp>
        <p:nvSpPr>
          <p:cNvPr id="21" name="Shape 19"/>
          <p:cNvSpPr/>
          <p:nvPr/>
        </p:nvSpPr>
        <p:spPr>
          <a:xfrm>
            <a:off x="9107424" y="2468880"/>
            <a:ext cx="2606040" cy="292608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22" name="Text 20"/>
          <p:cNvSpPr/>
          <p:nvPr/>
        </p:nvSpPr>
        <p:spPr>
          <a:xfrm>
            <a:off x="9381744" y="2697480"/>
            <a:ext cx="2057400" cy="411480"/>
          </a:xfrm>
          <a:prstGeom prst="rect">
            <a:avLst/>
          </a:prstGeom>
          <a:noFill/>
          <a:ln/>
        </p:spPr>
        <p:txBody>
          <a:bodyPr wrap="square" lIns="0" tIns="0" rIns="0" bIns="0" rtlCol="0" anchor="ctr"/>
          <a:lstStyle/>
          <a:p>
            <a:pPr marL="0" indent="0">
              <a:buNone/>
            </a:pPr>
            <a:r>
              <a:rPr lang="en-US" sz="1400" b="1" kern="0" spc="400" dirty="0">
                <a:solidFill>
                  <a:srgbClr val="38BDF8"/>
                </a:solidFill>
                <a:latin typeface="Calibri" pitchFamily="34" charset="0"/>
                <a:ea typeface="Calibri" pitchFamily="34" charset="-122"/>
                <a:cs typeface="Calibri" pitchFamily="34" charset="-120"/>
              </a:rPr>
              <a:t>04</a:t>
            </a:r>
            <a:endParaRPr lang="en-US" sz="1400" dirty="0"/>
          </a:p>
        </p:txBody>
      </p:sp>
      <p:sp>
        <p:nvSpPr>
          <p:cNvPr id="23" name="Text 21"/>
          <p:cNvSpPr/>
          <p:nvPr/>
        </p:nvSpPr>
        <p:spPr>
          <a:xfrm>
            <a:off x="9381744" y="3154680"/>
            <a:ext cx="2057400" cy="8229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Slow get slower</a:t>
            </a:r>
            <a:endParaRPr lang="en-US" sz="1800" dirty="0"/>
          </a:p>
        </p:txBody>
      </p:sp>
      <p:sp>
        <p:nvSpPr>
          <p:cNvPr id="24" name="Text 22"/>
          <p:cNvSpPr/>
          <p:nvPr/>
        </p:nvSpPr>
        <p:spPr>
          <a:xfrm>
            <a:off x="9381744" y="4023360"/>
            <a:ext cx="2057400" cy="12801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The very thing that bootstrapped software AI is structurally illegal here.</a:t>
            </a:r>
            <a:endParaRPr lang="en-US" sz="1300" dirty="0"/>
          </a:p>
        </p:txBody>
      </p:sp>
      <p:sp>
        <p:nvSpPr>
          <p:cNvPr id="25" name="Text 23"/>
          <p:cNvSpPr/>
          <p:nvPr/>
        </p:nvSpPr>
        <p:spPr>
          <a:xfrm>
            <a:off x="548640" y="5669280"/>
            <a:ext cx="11091672" cy="457200"/>
          </a:xfrm>
          <a:prstGeom prst="rect">
            <a:avLst/>
          </a:prstGeom>
          <a:noFill/>
          <a:ln/>
        </p:spPr>
        <p:txBody>
          <a:bodyPr wrap="square" lIns="0" tIns="0" rIns="0" bIns="0" rtlCol="0" anchor="ctr"/>
          <a:lstStyle/>
          <a:p>
            <a:pPr marL="0" indent="0" algn="ctr">
              <a:buNone/>
            </a:pPr>
            <a:r>
              <a:rPr lang="en-US" sz="1800" b="1" i="1" dirty="0">
                <a:solidFill>
                  <a:srgbClr val="1E2761"/>
                </a:solidFill>
                <a:latin typeface="Calibri" pitchFamily="34" charset="0"/>
                <a:ea typeface="Calibri" pitchFamily="34" charset="-122"/>
                <a:cs typeface="Calibri" pitchFamily="34" charset="-120"/>
              </a:rPr>
              <a:t>The sectors already behind on AI fall further behind.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502920" y="292608"/>
            <a:ext cx="1207008" cy="502920"/>
          </a:xfrm>
          <a:prstGeom prst="rect">
            <a:avLst/>
          </a:prstGeom>
          <a:solidFill>
            <a:srgbClr val="FFFFFF"/>
          </a:solidFill>
          <a:ln/>
        </p:spPr>
        <p:txBody>
          <a:bodyPr/>
          <a:lstStyle/>
          <a:p>
            <a:endParaRPr lang="de-DE"/>
          </a:p>
        </p:txBody>
      </p:sp>
      <p:sp>
        <p:nvSpPr>
          <p:cNvPr id="3" name="Text 1"/>
          <p:cNvSpPr/>
          <p:nvPr/>
        </p:nvSpPr>
        <p:spPr>
          <a:xfrm>
            <a:off x="502920" y="292608"/>
            <a:ext cx="1207008" cy="50292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ch</a:t>
            </a:r>
            <a:r>
              <a:rPr lang="en-US" sz="2200" b="1" dirty="0">
                <a:solidFill>
                  <a:srgbClr val="38BDF8"/>
                </a:solidFill>
                <a:latin typeface="Calibri" pitchFamily="34" charset="0"/>
                <a:ea typeface="Calibri" pitchFamily="34" charset="-122"/>
                <a:cs typeface="Calibri" pitchFamily="34" charset="-120"/>
              </a:rPr>
              <a:t>AI</a:t>
            </a:r>
            <a:r>
              <a:rPr lang="en-US" sz="2200" b="1" dirty="0">
                <a:solidFill>
                  <a:srgbClr val="0F172A"/>
                </a:solidFill>
                <a:latin typeface="Calibri" pitchFamily="34" charset="0"/>
                <a:ea typeface="Calibri" pitchFamily="34" charset="-122"/>
                <a:cs typeface="Calibri" pitchFamily="34" charset="-120"/>
              </a:rPr>
              <a:t>n</a:t>
            </a:r>
            <a:endParaRPr lang="en-US" sz="2200" dirty="0"/>
          </a:p>
        </p:txBody>
      </p:sp>
      <p:sp>
        <p:nvSpPr>
          <p:cNvPr id="4" name="Text 2"/>
          <p:cNvSpPr/>
          <p:nvPr/>
        </p:nvSpPr>
        <p:spPr>
          <a:xfrm>
            <a:off x="548640" y="868680"/>
            <a:ext cx="10972800" cy="640080"/>
          </a:xfrm>
          <a:prstGeom prst="rect">
            <a:avLst/>
          </a:prstGeom>
          <a:noFill/>
          <a:ln/>
        </p:spPr>
        <p:txBody>
          <a:bodyPr wrap="square" lIns="0" tIns="0" rIns="0" bIns="0" rtlCol="0" anchor="ctr"/>
          <a:lstStyle/>
          <a:p>
            <a:pPr marL="0" indent="0">
              <a:buNone/>
            </a:pPr>
            <a:r>
              <a:rPr lang="en-US" sz="4000" b="1" dirty="0">
                <a:solidFill>
                  <a:srgbClr val="0F172A"/>
                </a:solidFill>
                <a:latin typeface="Calibri" pitchFamily="34" charset="0"/>
                <a:ea typeface="Calibri" pitchFamily="34" charset="-122"/>
                <a:cs typeface="Calibri" pitchFamily="34" charset="-120"/>
              </a:rPr>
              <a:t>ch</a:t>
            </a:r>
            <a:r>
              <a:rPr lang="en-US" sz="4000" b="1" dirty="0">
                <a:solidFill>
                  <a:srgbClr val="38BDF8"/>
                </a:solidFill>
                <a:latin typeface="Calibri" pitchFamily="34" charset="0"/>
                <a:ea typeface="Calibri" pitchFamily="34" charset="-122"/>
                <a:cs typeface="Calibri" pitchFamily="34" charset="-120"/>
              </a:rPr>
              <a:t>AI</a:t>
            </a:r>
            <a:r>
              <a:rPr lang="en-US" sz="4000" b="1" dirty="0">
                <a:solidFill>
                  <a:srgbClr val="0F172A"/>
                </a:solidFill>
                <a:latin typeface="Calibri" pitchFamily="34" charset="0"/>
                <a:ea typeface="Calibri" pitchFamily="34" charset="-122"/>
                <a:cs typeface="Calibri" pitchFamily="34" charset="-120"/>
              </a:rPr>
              <a:t>n — what it is</a:t>
            </a:r>
            <a:endParaRPr lang="en-US" sz="4000" dirty="0"/>
          </a:p>
        </p:txBody>
      </p:sp>
      <p:sp>
        <p:nvSpPr>
          <p:cNvPr id="5" name="Text 3"/>
          <p:cNvSpPr/>
          <p:nvPr/>
        </p:nvSpPr>
        <p:spPr>
          <a:xfrm>
            <a:off x="548640" y="1508760"/>
            <a:ext cx="10972800" cy="41148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The privacy layer that sits between sensitive internal data and the outside world.</a:t>
            </a:r>
            <a:endParaRPr lang="en-US" sz="1800" dirty="0"/>
          </a:p>
        </p:txBody>
      </p:sp>
      <p:sp>
        <p:nvSpPr>
          <p:cNvPr id="6" name="Shape 4"/>
          <p:cNvSpPr/>
          <p:nvPr/>
        </p:nvSpPr>
        <p:spPr>
          <a:xfrm>
            <a:off x="548640" y="2286000"/>
            <a:ext cx="5486400" cy="246888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7" name="Shape 5"/>
          <p:cNvSpPr/>
          <p:nvPr/>
        </p:nvSpPr>
        <p:spPr>
          <a:xfrm>
            <a:off x="548640" y="2286000"/>
            <a:ext cx="109728" cy="2468880"/>
          </a:xfrm>
          <a:prstGeom prst="rect">
            <a:avLst/>
          </a:prstGeom>
          <a:solidFill>
            <a:srgbClr val="F59E0B"/>
          </a:solidFill>
          <a:ln/>
        </p:spPr>
        <p:txBody>
          <a:bodyPr/>
          <a:lstStyle/>
          <a:p>
            <a:endParaRPr lang="de-DE"/>
          </a:p>
        </p:txBody>
      </p:sp>
      <p:sp>
        <p:nvSpPr>
          <p:cNvPr id="8" name="Text 6"/>
          <p:cNvSpPr/>
          <p:nvPr/>
        </p:nvSpPr>
        <p:spPr>
          <a:xfrm>
            <a:off x="914400" y="2514600"/>
            <a:ext cx="493776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SURFACE 1</a:t>
            </a:r>
            <a:endParaRPr lang="en-US" sz="1100" dirty="0"/>
          </a:p>
        </p:txBody>
      </p:sp>
      <p:sp>
        <p:nvSpPr>
          <p:cNvPr id="9" name="Text 7"/>
          <p:cNvSpPr/>
          <p:nvPr/>
        </p:nvSpPr>
        <p:spPr>
          <a:xfrm>
            <a:off x="914400" y="2834640"/>
            <a:ext cx="4937760" cy="54864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Privacy Gateway</a:t>
            </a:r>
            <a:endParaRPr lang="en-US" sz="2600" dirty="0"/>
          </a:p>
        </p:txBody>
      </p:sp>
      <p:sp>
        <p:nvSpPr>
          <p:cNvPr id="10" name="Text 8"/>
          <p:cNvSpPr/>
          <p:nvPr/>
        </p:nvSpPr>
        <p:spPr>
          <a:xfrm>
            <a:off x="914400" y="3429000"/>
            <a:ext cx="4937760" cy="109728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Outbound communication. Anything you'd send to a tax authority, a bank, a client, or another agent passes through here first.</a:t>
            </a:r>
            <a:endParaRPr lang="en-US" sz="1400" dirty="0"/>
          </a:p>
        </p:txBody>
      </p:sp>
      <p:sp>
        <p:nvSpPr>
          <p:cNvPr id="11" name="Shape 9"/>
          <p:cNvSpPr/>
          <p:nvPr/>
        </p:nvSpPr>
        <p:spPr>
          <a:xfrm>
            <a:off x="6153912" y="2286000"/>
            <a:ext cx="5486400" cy="246888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2" name="Shape 10"/>
          <p:cNvSpPr/>
          <p:nvPr/>
        </p:nvSpPr>
        <p:spPr>
          <a:xfrm>
            <a:off x="6153912" y="2286000"/>
            <a:ext cx="109728" cy="2468880"/>
          </a:xfrm>
          <a:prstGeom prst="rect">
            <a:avLst/>
          </a:prstGeom>
          <a:solidFill>
            <a:srgbClr val="38BDF8"/>
          </a:solidFill>
          <a:ln/>
        </p:spPr>
        <p:txBody>
          <a:bodyPr/>
          <a:lstStyle/>
          <a:p>
            <a:endParaRPr lang="de-DE"/>
          </a:p>
        </p:txBody>
      </p:sp>
      <p:sp>
        <p:nvSpPr>
          <p:cNvPr id="13" name="Text 11"/>
          <p:cNvSpPr/>
          <p:nvPr/>
        </p:nvSpPr>
        <p:spPr>
          <a:xfrm>
            <a:off x="6519672" y="2514600"/>
            <a:ext cx="4937760" cy="274320"/>
          </a:xfrm>
          <a:prstGeom prst="rect">
            <a:avLst/>
          </a:prstGeom>
          <a:noFill/>
          <a:ln/>
        </p:spPr>
        <p:txBody>
          <a:bodyPr wrap="square" lIns="0" tIns="0" rIns="0" bIns="0" rtlCol="0" anchor="ctr"/>
          <a:lstStyle/>
          <a:p>
            <a:pPr marL="0" indent="0">
              <a:buNone/>
            </a:pPr>
            <a:r>
              <a:rPr lang="en-US" sz="1100" b="1" kern="0" spc="400" dirty="0">
                <a:solidFill>
                  <a:srgbClr val="38BDF8"/>
                </a:solidFill>
                <a:latin typeface="Calibri" pitchFamily="34" charset="0"/>
                <a:ea typeface="Calibri" pitchFamily="34" charset="-122"/>
                <a:cs typeface="Calibri" pitchFamily="34" charset="-120"/>
              </a:rPr>
              <a:t>SURFACE 2</a:t>
            </a:r>
            <a:endParaRPr lang="en-US" sz="1100" dirty="0"/>
          </a:p>
        </p:txBody>
      </p:sp>
      <p:sp>
        <p:nvSpPr>
          <p:cNvPr id="14" name="Text 12"/>
          <p:cNvSpPr/>
          <p:nvPr/>
        </p:nvSpPr>
        <p:spPr>
          <a:xfrm>
            <a:off x="6519672" y="2834640"/>
            <a:ext cx="4937760" cy="54864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chAIn Network</a:t>
            </a:r>
            <a:endParaRPr lang="en-US" sz="2600" dirty="0"/>
          </a:p>
        </p:txBody>
      </p:sp>
      <p:sp>
        <p:nvSpPr>
          <p:cNvPr id="15" name="Text 13"/>
          <p:cNvSpPr/>
          <p:nvPr/>
        </p:nvSpPr>
        <p:spPr>
          <a:xfrm>
            <a:off x="6519672" y="3429000"/>
            <a:ext cx="4937760" cy="109728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Agent-to-agent and human-to-human knowledge feed for regulated work, built on top of the Gateway.</a:t>
            </a:r>
            <a:endParaRPr lang="en-US" sz="1400" dirty="0"/>
          </a:p>
        </p:txBody>
      </p:sp>
      <p:sp>
        <p:nvSpPr>
          <p:cNvPr id="16" name="Shape 14"/>
          <p:cNvSpPr/>
          <p:nvPr/>
        </p:nvSpPr>
        <p:spPr>
          <a:xfrm>
            <a:off x="548640" y="5074920"/>
            <a:ext cx="11091672" cy="1188720"/>
          </a:xfrm>
          <a:prstGeom prst="rect">
            <a:avLst/>
          </a:prstGeom>
          <a:solidFill>
            <a:srgbClr val="1E2761"/>
          </a:solidFill>
          <a:ln/>
          <a:effectLst>
            <a:outerShdw blurRad="228600" dist="38100" dir="5400000" algn="bl" rotWithShape="0">
              <a:srgbClr val="000000">
                <a:alpha val="10000"/>
              </a:srgbClr>
            </a:outerShdw>
          </a:effectLst>
        </p:spPr>
        <p:txBody>
          <a:bodyPr/>
          <a:lstStyle/>
          <a:p>
            <a:endParaRPr lang="de-DE"/>
          </a:p>
        </p:txBody>
      </p:sp>
      <p:sp>
        <p:nvSpPr>
          <p:cNvPr id="17" name="Text 15"/>
          <p:cNvSpPr/>
          <p:nvPr/>
        </p:nvSpPr>
        <p:spPr>
          <a:xfrm>
            <a:off x="822960" y="5239512"/>
            <a:ext cx="10515600" cy="320040"/>
          </a:xfrm>
          <a:prstGeom prst="rect">
            <a:avLst/>
          </a:prstGeom>
          <a:noFill/>
          <a:ln/>
        </p:spPr>
        <p:txBody>
          <a:bodyPr wrap="square" lIns="0" tIns="0" rIns="0" bIns="0" rtlCol="0" anchor="ctr"/>
          <a:lstStyle/>
          <a:p>
            <a:pPr marL="0" indent="0">
              <a:buNone/>
            </a:pPr>
            <a:r>
              <a:rPr lang="en-US" sz="1100" b="1" kern="0" spc="400" dirty="0">
                <a:solidFill>
                  <a:srgbClr val="38BDF8"/>
                </a:solidFill>
                <a:latin typeface="Calibri" pitchFamily="34" charset="0"/>
                <a:ea typeface="Calibri" pitchFamily="34" charset="-122"/>
                <a:cs typeface="Calibri" pitchFamily="34" charset="-120"/>
              </a:rPr>
              <a:t>ONE PIPELINE UNDERNEATH BOTH</a:t>
            </a:r>
            <a:endParaRPr lang="en-US" sz="1100" dirty="0"/>
          </a:p>
        </p:txBody>
      </p:sp>
      <p:sp>
        <p:nvSpPr>
          <p:cNvPr id="18" name="Text 16"/>
          <p:cNvSpPr/>
          <p:nvPr/>
        </p:nvSpPr>
        <p:spPr>
          <a:xfrm>
            <a:off x="822960" y="5577840"/>
            <a:ext cx="10515600" cy="548640"/>
          </a:xfrm>
          <a:prstGeom prst="rect">
            <a:avLst/>
          </a:prstGeom>
          <a:noFill/>
          <a:ln/>
        </p:spPr>
        <p:txBody>
          <a:bodyPr wrap="square" lIns="0" tIns="0" rIns="0" bIns="0" rtlCol="0" anchor="ctr"/>
          <a:lstStyle/>
          <a:p>
            <a:pPr marL="0" indent="0">
              <a:buNone/>
            </a:pPr>
            <a:r>
              <a:rPr lang="en-US" sz="2000" b="1" dirty="0">
                <a:solidFill>
                  <a:srgbClr val="F8FAFC"/>
                </a:solidFill>
                <a:latin typeface="Calibri" pitchFamily="34" charset="0"/>
                <a:ea typeface="Calibri" pitchFamily="34" charset="-122"/>
                <a:cs typeface="Calibri" pitchFamily="34" charset="-120"/>
              </a:rPr>
              <a:t>Everything that leaves the building passes through chAIn.</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502920" y="292608"/>
            <a:ext cx="1207008" cy="502920"/>
          </a:xfrm>
          <a:prstGeom prst="rect">
            <a:avLst/>
          </a:prstGeom>
          <a:solidFill>
            <a:srgbClr val="FFFFFF"/>
          </a:solidFill>
          <a:ln/>
        </p:spPr>
        <p:txBody>
          <a:bodyPr/>
          <a:lstStyle/>
          <a:p>
            <a:endParaRPr lang="de-DE"/>
          </a:p>
        </p:txBody>
      </p:sp>
      <p:sp>
        <p:nvSpPr>
          <p:cNvPr id="3" name="Text 1"/>
          <p:cNvSpPr/>
          <p:nvPr/>
        </p:nvSpPr>
        <p:spPr>
          <a:xfrm>
            <a:off x="502920" y="292608"/>
            <a:ext cx="1207008" cy="50292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ch</a:t>
            </a:r>
            <a:r>
              <a:rPr lang="en-US" sz="2200" b="1" dirty="0">
                <a:solidFill>
                  <a:srgbClr val="38BDF8"/>
                </a:solidFill>
                <a:latin typeface="Calibri" pitchFamily="34" charset="0"/>
                <a:ea typeface="Calibri" pitchFamily="34" charset="-122"/>
                <a:cs typeface="Calibri" pitchFamily="34" charset="-120"/>
              </a:rPr>
              <a:t>AI</a:t>
            </a:r>
            <a:r>
              <a:rPr lang="en-US" sz="2200" b="1" dirty="0">
                <a:solidFill>
                  <a:srgbClr val="0F172A"/>
                </a:solidFill>
                <a:latin typeface="Calibri" pitchFamily="34" charset="0"/>
                <a:ea typeface="Calibri" pitchFamily="34" charset="-122"/>
                <a:cs typeface="Calibri" pitchFamily="34" charset="-120"/>
              </a:rPr>
              <a:t>n</a:t>
            </a:r>
            <a:endParaRPr lang="en-US" sz="2200" dirty="0"/>
          </a:p>
        </p:txBody>
      </p:sp>
      <p:sp>
        <p:nvSpPr>
          <p:cNvPr id="4" name="Text 2"/>
          <p:cNvSpPr/>
          <p:nvPr/>
        </p:nvSpPr>
        <p:spPr>
          <a:xfrm>
            <a:off x="548640" y="868680"/>
            <a:ext cx="10972800" cy="640080"/>
          </a:xfrm>
          <a:prstGeom prst="rect">
            <a:avLst/>
          </a:prstGeom>
          <a:noFill/>
          <a:ln/>
        </p:spPr>
        <p:txBody>
          <a:bodyPr wrap="square" lIns="0" tIns="0" rIns="0" bIns="0" rtlCol="0" anchor="ctr"/>
          <a:lstStyle/>
          <a:p>
            <a:pPr marL="0" indent="0">
              <a:buNone/>
            </a:pPr>
            <a:r>
              <a:rPr lang="en-US" sz="4000" b="1" dirty="0">
                <a:solidFill>
                  <a:srgbClr val="0F172A"/>
                </a:solidFill>
                <a:latin typeface="Calibri" pitchFamily="34" charset="0"/>
                <a:ea typeface="Calibri" pitchFamily="34" charset="-122"/>
                <a:cs typeface="Calibri" pitchFamily="34" charset="-120"/>
              </a:rPr>
              <a:t>Why I built this.</a:t>
            </a:r>
            <a:endParaRPr lang="en-US" sz="4000" dirty="0"/>
          </a:p>
        </p:txBody>
      </p:sp>
      <p:sp>
        <p:nvSpPr>
          <p:cNvPr id="5" name="Text 3"/>
          <p:cNvSpPr/>
          <p:nvPr/>
        </p:nvSpPr>
        <p:spPr>
          <a:xfrm>
            <a:off x="548640" y="1508760"/>
            <a:ext cx="10972800" cy="411480"/>
          </a:xfrm>
          <a:prstGeom prst="rect">
            <a:avLst/>
          </a:prstGeom>
          <a:noFill/>
          <a:ln/>
        </p:spPr>
        <p:txBody>
          <a:bodyPr wrap="square" lIns="0" tIns="0" rIns="0" bIns="0" rtlCol="0" anchor="ctr"/>
          <a:lstStyle/>
          <a:p>
            <a:pPr marL="0" indent="0">
              <a:buNone/>
            </a:pPr>
            <a:r>
              <a:rPr lang="en-US" sz="1800" i="1" dirty="0">
                <a:solidFill>
                  <a:srgbClr val="64748B"/>
                </a:solidFill>
                <a:latin typeface="Calibri" pitchFamily="34" charset="0"/>
                <a:ea typeface="Calibri" pitchFamily="34" charset="-122"/>
                <a:cs typeface="Calibri" pitchFamily="34" charset="-120"/>
              </a:rPr>
              <a:t>The story is personal.</a:t>
            </a:r>
            <a:endParaRPr lang="en-US" sz="1800" dirty="0"/>
          </a:p>
        </p:txBody>
      </p:sp>
      <p:sp>
        <p:nvSpPr>
          <p:cNvPr id="6" name="Shape 4"/>
          <p:cNvSpPr/>
          <p:nvPr/>
        </p:nvSpPr>
        <p:spPr>
          <a:xfrm>
            <a:off x="548640" y="2331720"/>
            <a:ext cx="5486400" cy="4160520"/>
          </a:xfrm>
          <a:prstGeom prst="rect">
            <a:avLst/>
          </a:prstGeom>
          <a:solidFill>
            <a:srgbClr val="1E2761"/>
          </a:solidFill>
          <a:ln/>
          <a:effectLst>
            <a:outerShdw blurRad="228600" dist="38100" dir="5400000" algn="bl" rotWithShape="0">
              <a:srgbClr val="000000">
                <a:alpha val="10000"/>
              </a:srgbClr>
            </a:outerShdw>
          </a:effectLst>
        </p:spPr>
        <p:txBody>
          <a:bodyPr/>
          <a:lstStyle/>
          <a:p>
            <a:endParaRPr lang="de-DE"/>
          </a:p>
        </p:txBody>
      </p:sp>
      <p:sp>
        <p:nvSpPr>
          <p:cNvPr id="7" name="Text 5"/>
          <p:cNvSpPr/>
          <p:nvPr/>
        </p:nvSpPr>
        <p:spPr>
          <a:xfrm>
            <a:off x="822960" y="2377440"/>
            <a:ext cx="1097280" cy="1097280"/>
          </a:xfrm>
          <a:prstGeom prst="rect">
            <a:avLst/>
          </a:prstGeom>
          <a:noFill/>
          <a:ln/>
        </p:spPr>
        <p:txBody>
          <a:bodyPr wrap="square" lIns="0" tIns="0" rIns="0" bIns="0" rtlCol="0" anchor="ctr"/>
          <a:lstStyle/>
          <a:p>
            <a:pPr marL="0" indent="0">
              <a:buNone/>
            </a:pPr>
            <a:r>
              <a:rPr lang="en-US" sz="9600" b="1" dirty="0">
                <a:solidFill>
                  <a:srgbClr val="38BDF8"/>
                </a:solidFill>
                <a:latin typeface="Calibri" pitchFamily="34" charset="0"/>
                <a:ea typeface="Calibri" pitchFamily="34" charset="-122"/>
                <a:cs typeface="Calibri" pitchFamily="34" charset="-120"/>
              </a:rPr>
              <a:t>“</a:t>
            </a:r>
            <a:endParaRPr lang="en-US" sz="9600" dirty="0"/>
          </a:p>
        </p:txBody>
      </p:sp>
      <p:sp>
        <p:nvSpPr>
          <p:cNvPr id="8" name="Text 6"/>
          <p:cNvSpPr/>
          <p:nvPr/>
        </p:nvSpPr>
        <p:spPr>
          <a:xfrm>
            <a:off x="1005840" y="3474720"/>
            <a:ext cx="4572000" cy="1554480"/>
          </a:xfrm>
          <a:prstGeom prst="rect">
            <a:avLst/>
          </a:prstGeom>
          <a:noFill/>
          <a:ln/>
        </p:spPr>
        <p:txBody>
          <a:bodyPr wrap="square" lIns="0" tIns="0" rIns="0" bIns="0" rtlCol="0" anchor="ctr"/>
          <a:lstStyle/>
          <a:p>
            <a:pPr marL="0" indent="0">
              <a:buNone/>
            </a:pPr>
            <a:r>
              <a:rPr lang="en-US" sz="2600" b="1" dirty="0">
                <a:solidFill>
                  <a:srgbClr val="F8FAFC"/>
                </a:solidFill>
                <a:latin typeface="Calibri" pitchFamily="34" charset="0"/>
                <a:ea typeface="Calibri" pitchFamily="34" charset="-122"/>
                <a:cs typeface="Calibri" pitchFamily="34" charset="-120"/>
              </a:rPr>
              <a:t>My mother is a partner at a tax consulting firm.</a:t>
            </a:r>
            <a:endParaRPr lang="en-US" sz="2600" dirty="0"/>
          </a:p>
        </p:txBody>
      </p:sp>
      <p:sp>
        <p:nvSpPr>
          <p:cNvPr id="9" name="Text 7"/>
          <p:cNvSpPr/>
          <p:nvPr/>
        </p:nvSpPr>
        <p:spPr>
          <a:xfrm>
            <a:off x="1005840" y="5074920"/>
            <a:ext cx="4572000" cy="109728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She still employs dozens of people for work that an AI tool could do in minutes.</a:t>
            </a:r>
            <a:endParaRPr lang="en-US" sz="1600" dirty="0"/>
          </a:p>
        </p:txBody>
      </p:sp>
      <p:sp>
        <p:nvSpPr>
          <p:cNvPr id="10" name="Shape 8"/>
          <p:cNvSpPr/>
          <p:nvPr/>
        </p:nvSpPr>
        <p:spPr>
          <a:xfrm>
            <a:off x="6153912" y="2331720"/>
            <a:ext cx="5605272" cy="416052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1" name="Text 9"/>
          <p:cNvSpPr/>
          <p:nvPr/>
        </p:nvSpPr>
        <p:spPr>
          <a:xfrm>
            <a:off x="6519672" y="2606040"/>
            <a:ext cx="4873752" cy="274320"/>
          </a:xfrm>
          <a:prstGeom prst="rect">
            <a:avLst/>
          </a:prstGeom>
          <a:noFill/>
          <a:ln/>
        </p:spPr>
        <p:txBody>
          <a:bodyPr wrap="square" lIns="0" tIns="0" rIns="0" bIns="0" rtlCol="0" anchor="ctr"/>
          <a:lstStyle/>
          <a:p>
            <a:pPr marL="0" indent="0">
              <a:buNone/>
            </a:pPr>
            <a:r>
              <a:rPr lang="en-US" sz="1100" b="1" kern="0" spc="400" dirty="0">
                <a:solidFill>
                  <a:srgbClr val="38BDF8"/>
                </a:solidFill>
                <a:latin typeface="Calibri" pitchFamily="34" charset="0"/>
                <a:ea typeface="Calibri" pitchFamily="34" charset="-122"/>
                <a:cs typeface="Calibri" pitchFamily="34" charset="-120"/>
              </a:rPr>
              <a:t>THE QUESTION</a:t>
            </a:r>
            <a:endParaRPr lang="en-US" sz="1100" dirty="0"/>
          </a:p>
        </p:txBody>
      </p:sp>
      <p:sp>
        <p:nvSpPr>
          <p:cNvPr id="12" name="Text 10"/>
          <p:cNvSpPr/>
          <p:nvPr/>
        </p:nvSpPr>
        <p:spPr>
          <a:xfrm>
            <a:off x="6519672" y="2926080"/>
            <a:ext cx="4873752" cy="100584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Why hasn't AI replaced any of those people yet?</a:t>
            </a:r>
            <a:endParaRPr lang="en-US" sz="2200" dirty="0"/>
          </a:p>
        </p:txBody>
      </p:sp>
      <p:sp>
        <p:nvSpPr>
          <p:cNvPr id="13" name="Shape 11"/>
          <p:cNvSpPr/>
          <p:nvPr/>
        </p:nvSpPr>
        <p:spPr>
          <a:xfrm>
            <a:off x="6519672" y="4206240"/>
            <a:ext cx="4873752" cy="18288"/>
          </a:xfrm>
          <a:prstGeom prst="rect">
            <a:avLst/>
          </a:prstGeom>
          <a:solidFill>
            <a:srgbClr val="E2E8F0"/>
          </a:solidFill>
          <a:ln/>
        </p:spPr>
        <p:txBody>
          <a:bodyPr/>
          <a:lstStyle/>
          <a:p>
            <a:endParaRPr lang="de-DE"/>
          </a:p>
        </p:txBody>
      </p:sp>
      <p:sp>
        <p:nvSpPr>
          <p:cNvPr id="14" name="Text 12"/>
          <p:cNvSpPr/>
          <p:nvPr/>
        </p:nvSpPr>
        <p:spPr>
          <a:xfrm>
            <a:off x="6519672" y="4389120"/>
            <a:ext cx="4873752"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THE ANSWER</a:t>
            </a:r>
            <a:endParaRPr lang="en-US" sz="1100" dirty="0"/>
          </a:p>
        </p:txBody>
      </p:sp>
      <p:sp>
        <p:nvSpPr>
          <p:cNvPr id="15" name="Text 13"/>
          <p:cNvSpPr/>
          <p:nvPr/>
        </p:nvSpPr>
        <p:spPr>
          <a:xfrm>
            <a:off x="6519672" y="4709160"/>
            <a:ext cx="4873752" cy="100584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She cannot show a single client document to an AI tool.</a:t>
            </a:r>
            <a:endParaRPr lang="en-US" sz="1800" dirty="0"/>
          </a:p>
        </p:txBody>
      </p:sp>
      <p:sp>
        <p:nvSpPr>
          <p:cNvPr id="16" name="Text 14"/>
          <p:cNvSpPr/>
          <p:nvPr/>
        </p:nvSpPr>
        <p:spPr>
          <a:xfrm>
            <a:off x="6519672" y="5715000"/>
            <a:ext cx="4873752" cy="64008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Confidentiality is binding. The blocker is policy, not the model.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502920" y="292608"/>
            <a:ext cx="1207008" cy="502920"/>
          </a:xfrm>
          <a:prstGeom prst="rect">
            <a:avLst/>
          </a:prstGeom>
          <a:solidFill>
            <a:srgbClr val="FFFFFF"/>
          </a:solidFill>
          <a:ln/>
        </p:spPr>
        <p:txBody>
          <a:bodyPr/>
          <a:lstStyle/>
          <a:p>
            <a:endParaRPr lang="de-DE"/>
          </a:p>
        </p:txBody>
      </p:sp>
      <p:sp>
        <p:nvSpPr>
          <p:cNvPr id="3" name="Text 1"/>
          <p:cNvSpPr/>
          <p:nvPr/>
        </p:nvSpPr>
        <p:spPr>
          <a:xfrm>
            <a:off x="502920" y="292608"/>
            <a:ext cx="1207008" cy="50292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ch</a:t>
            </a:r>
            <a:r>
              <a:rPr lang="en-US" sz="2200" b="1" dirty="0">
                <a:solidFill>
                  <a:srgbClr val="38BDF8"/>
                </a:solidFill>
                <a:latin typeface="Calibri" pitchFamily="34" charset="0"/>
                <a:ea typeface="Calibri" pitchFamily="34" charset="-122"/>
                <a:cs typeface="Calibri" pitchFamily="34" charset="-120"/>
              </a:rPr>
              <a:t>AI</a:t>
            </a:r>
            <a:r>
              <a:rPr lang="en-US" sz="2200" b="1" dirty="0">
                <a:solidFill>
                  <a:srgbClr val="0F172A"/>
                </a:solidFill>
                <a:latin typeface="Calibri" pitchFamily="34" charset="0"/>
                <a:ea typeface="Calibri" pitchFamily="34" charset="-122"/>
                <a:cs typeface="Calibri" pitchFamily="34" charset="-120"/>
              </a:rPr>
              <a:t>n</a:t>
            </a:r>
            <a:endParaRPr lang="en-US" sz="2200" dirty="0"/>
          </a:p>
        </p:txBody>
      </p:sp>
      <p:sp>
        <p:nvSpPr>
          <p:cNvPr id="4" name="Text 2"/>
          <p:cNvSpPr/>
          <p:nvPr/>
        </p:nvSpPr>
        <p:spPr>
          <a:xfrm>
            <a:off x="548640" y="868680"/>
            <a:ext cx="10972800" cy="640080"/>
          </a:xfrm>
          <a:prstGeom prst="rect">
            <a:avLst/>
          </a:prstGeom>
          <a:noFill/>
          <a:ln/>
        </p:spPr>
        <p:txBody>
          <a:bodyPr wrap="square" lIns="0" tIns="0" rIns="0" bIns="0" rtlCol="0" anchor="ctr"/>
          <a:lstStyle/>
          <a:p>
            <a:pPr marL="0" indent="0">
              <a:buNone/>
            </a:pPr>
            <a:r>
              <a:rPr lang="en-US" sz="4000" b="1" dirty="0">
                <a:solidFill>
                  <a:srgbClr val="0F172A"/>
                </a:solidFill>
                <a:latin typeface="Calibri" pitchFamily="34" charset="0"/>
                <a:ea typeface="Calibri" pitchFamily="34" charset="-122"/>
                <a:cs typeface="Calibri" pitchFamily="34" charset="-120"/>
              </a:rPr>
              <a:t>What it looks like for her.</a:t>
            </a:r>
            <a:endParaRPr lang="en-US" sz="4000" dirty="0"/>
          </a:p>
        </p:txBody>
      </p:sp>
      <p:sp>
        <p:nvSpPr>
          <p:cNvPr id="5" name="Text 3"/>
          <p:cNvSpPr/>
          <p:nvPr/>
        </p:nvSpPr>
        <p:spPr>
          <a:xfrm>
            <a:off x="548640" y="1508760"/>
            <a:ext cx="10972800" cy="41148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Drop a client document. Get the cleaned version. Use any AI tool she likes.</a:t>
            </a:r>
            <a:endParaRPr lang="en-US" sz="1800" dirty="0"/>
          </a:p>
        </p:txBody>
      </p:sp>
      <p:sp>
        <p:nvSpPr>
          <p:cNvPr id="6" name="Shape 4"/>
          <p:cNvSpPr/>
          <p:nvPr/>
        </p:nvSpPr>
        <p:spPr>
          <a:xfrm>
            <a:off x="548640" y="2331720"/>
            <a:ext cx="2679192" cy="329184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7" name="Shape 5"/>
          <p:cNvSpPr/>
          <p:nvPr/>
        </p:nvSpPr>
        <p:spPr>
          <a:xfrm>
            <a:off x="548640" y="2331720"/>
            <a:ext cx="2679192" cy="73152"/>
          </a:xfrm>
          <a:prstGeom prst="rect">
            <a:avLst/>
          </a:prstGeom>
          <a:solidFill>
            <a:srgbClr val="38BDF8"/>
          </a:solidFill>
          <a:ln/>
        </p:spPr>
        <p:txBody>
          <a:bodyPr/>
          <a:lstStyle/>
          <a:p>
            <a:endParaRPr lang="de-DE"/>
          </a:p>
        </p:txBody>
      </p:sp>
      <p:sp>
        <p:nvSpPr>
          <p:cNvPr id="8" name="Text 6"/>
          <p:cNvSpPr/>
          <p:nvPr/>
        </p:nvSpPr>
        <p:spPr>
          <a:xfrm>
            <a:off x="822960" y="2606040"/>
            <a:ext cx="2130552" cy="320040"/>
          </a:xfrm>
          <a:prstGeom prst="rect">
            <a:avLst/>
          </a:prstGeom>
          <a:noFill/>
          <a:ln/>
        </p:spPr>
        <p:txBody>
          <a:bodyPr wrap="square" lIns="0" tIns="0" rIns="0" bIns="0" rtlCol="0" anchor="ctr"/>
          <a:lstStyle/>
          <a:p>
            <a:pPr marL="0" indent="0">
              <a:buNone/>
            </a:pPr>
            <a:r>
              <a:rPr lang="en-US" sz="1200" b="1" kern="0" spc="400" dirty="0">
                <a:solidFill>
                  <a:srgbClr val="38BDF8"/>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822960" y="2971800"/>
            <a:ext cx="2130552" cy="1005840"/>
          </a:xfrm>
          <a:prstGeom prst="rect">
            <a:avLst/>
          </a:prstGeom>
          <a:noFill/>
          <a:ln/>
        </p:spPr>
        <p:txBody>
          <a:bodyPr wrap="square" lIns="0" tIns="0" rIns="0" bIns="0" rtlCol="0" anchor="ctr"/>
          <a:lstStyle/>
          <a:p>
            <a:pPr marL="0" indent="0">
              <a:buNone/>
            </a:pPr>
            <a:r>
              <a:rPr lang="en-US" sz="1900" b="1" dirty="0">
                <a:solidFill>
                  <a:srgbClr val="0F172A"/>
                </a:solidFill>
                <a:latin typeface="Calibri" pitchFamily="34" charset="0"/>
                <a:ea typeface="Calibri" pitchFamily="34" charset="-122"/>
                <a:cs typeface="Calibri" pitchFamily="34" charset="-120"/>
              </a:rPr>
              <a:t>Drop the document</a:t>
            </a:r>
            <a:endParaRPr lang="en-US" sz="1900" dirty="0"/>
          </a:p>
        </p:txBody>
      </p:sp>
      <p:sp>
        <p:nvSpPr>
          <p:cNvPr id="10" name="Text 8"/>
          <p:cNvSpPr/>
          <p:nvPr/>
        </p:nvSpPr>
        <p:spPr>
          <a:xfrm>
            <a:off x="822960" y="4023360"/>
            <a:ext cx="2130552" cy="1463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She drags a real client file into chAIn.</a:t>
            </a:r>
            <a:endParaRPr lang="en-US" sz="1300" dirty="0"/>
          </a:p>
        </p:txBody>
      </p:sp>
      <p:sp>
        <p:nvSpPr>
          <p:cNvPr id="11" name="Shape 9"/>
          <p:cNvSpPr/>
          <p:nvPr/>
        </p:nvSpPr>
        <p:spPr>
          <a:xfrm>
            <a:off x="3392424" y="2331720"/>
            <a:ext cx="2679192" cy="329184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2" name="Shape 10"/>
          <p:cNvSpPr/>
          <p:nvPr/>
        </p:nvSpPr>
        <p:spPr>
          <a:xfrm>
            <a:off x="3392424" y="2331720"/>
            <a:ext cx="2679192" cy="73152"/>
          </a:xfrm>
          <a:prstGeom prst="rect">
            <a:avLst/>
          </a:prstGeom>
          <a:solidFill>
            <a:srgbClr val="38BDF8"/>
          </a:solidFill>
          <a:ln/>
        </p:spPr>
        <p:txBody>
          <a:bodyPr/>
          <a:lstStyle/>
          <a:p>
            <a:endParaRPr lang="de-DE"/>
          </a:p>
        </p:txBody>
      </p:sp>
      <p:sp>
        <p:nvSpPr>
          <p:cNvPr id="13" name="Text 11"/>
          <p:cNvSpPr/>
          <p:nvPr/>
        </p:nvSpPr>
        <p:spPr>
          <a:xfrm>
            <a:off x="3666744" y="2606040"/>
            <a:ext cx="2130552" cy="320040"/>
          </a:xfrm>
          <a:prstGeom prst="rect">
            <a:avLst/>
          </a:prstGeom>
          <a:noFill/>
          <a:ln/>
        </p:spPr>
        <p:txBody>
          <a:bodyPr wrap="square" lIns="0" tIns="0" rIns="0" bIns="0" rtlCol="0" anchor="ctr"/>
          <a:lstStyle/>
          <a:p>
            <a:pPr marL="0" indent="0">
              <a:buNone/>
            </a:pPr>
            <a:r>
              <a:rPr lang="en-US" sz="1200" b="1" kern="0" spc="400" dirty="0">
                <a:solidFill>
                  <a:srgbClr val="38BDF8"/>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3666744" y="2971800"/>
            <a:ext cx="2130552" cy="1005840"/>
          </a:xfrm>
          <a:prstGeom prst="rect">
            <a:avLst/>
          </a:prstGeom>
          <a:noFill/>
          <a:ln/>
        </p:spPr>
        <p:txBody>
          <a:bodyPr wrap="square" lIns="0" tIns="0" rIns="0" bIns="0" rtlCol="0" anchor="ctr"/>
          <a:lstStyle/>
          <a:p>
            <a:pPr marL="0" indent="0">
              <a:buNone/>
            </a:pPr>
            <a:r>
              <a:rPr lang="en-US" sz="1900" b="1" dirty="0">
                <a:solidFill>
                  <a:srgbClr val="0F172A"/>
                </a:solidFill>
                <a:latin typeface="Calibri" pitchFamily="34" charset="0"/>
                <a:ea typeface="Calibri" pitchFamily="34" charset="-122"/>
                <a:cs typeface="Calibri" pitchFamily="34" charset="-120"/>
              </a:rPr>
              <a:t>Critical fields swap</a:t>
            </a:r>
            <a:endParaRPr lang="en-US" sz="1900" dirty="0"/>
          </a:p>
        </p:txBody>
      </p:sp>
      <p:sp>
        <p:nvSpPr>
          <p:cNvPr id="15" name="Text 13"/>
          <p:cNvSpPr/>
          <p:nvPr/>
        </p:nvSpPr>
        <p:spPr>
          <a:xfrm>
            <a:off x="3666744" y="4023360"/>
            <a:ext cx="2130552" cy="1463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Names, IBANs, IDs are replaced with realistic dummy data.</a:t>
            </a:r>
            <a:endParaRPr lang="en-US" sz="1300" dirty="0"/>
          </a:p>
        </p:txBody>
      </p:sp>
      <p:sp>
        <p:nvSpPr>
          <p:cNvPr id="16" name="Shape 14"/>
          <p:cNvSpPr/>
          <p:nvPr/>
        </p:nvSpPr>
        <p:spPr>
          <a:xfrm>
            <a:off x="6236208" y="2331720"/>
            <a:ext cx="2679192" cy="329184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7" name="Shape 15"/>
          <p:cNvSpPr/>
          <p:nvPr/>
        </p:nvSpPr>
        <p:spPr>
          <a:xfrm>
            <a:off x="6236208" y="2331720"/>
            <a:ext cx="2679192" cy="73152"/>
          </a:xfrm>
          <a:prstGeom prst="rect">
            <a:avLst/>
          </a:prstGeom>
          <a:solidFill>
            <a:srgbClr val="F59E0B"/>
          </a:solidFill>
          <a:ln/>
        </p:spPr>
        <p:txBody>
          <a:bodyPr/>
          <a:lstStyle/>
          <a:p>
            <a:endParaRPr lang="de-DE"/>
          </a:p>
        </p:txBody>
      </p:sp>
      <p:sp>
        <p:nvSpPr>
          <p:cNvPr id="18" name="Text 16"/>
          <p:cNvSpPr/>
          <p:nvPr/>
        </p:nvSpPr>
        <p:spPr>
          <a:xfrm>
            <a:off x="6510528" y="2606040"/>
            <a:ext cx="2130552" cy="32004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6510528" y="2971800"/>
            <a:ext cx="2130552" cy="1005840"/>
          </a:xfrm>
          <a:prstGeom prst="rect">
            <a:avLst/>
          </a:prstGeom>
          <a:noFill/>
          <a:ln/>
        </p:spPr>
        <p:txBody>
          <a:bodyPr wrap="square" lIns="0" tIns="0" rIns="0" bIns="0" rtlCol="0" anchor="ctr"/>
          <a:lstStyle/>
          <a:p>
            <a:pPr marL="0" indent="0">
              <a:buNone/>
            </a:pPr>
            <a:r>
              <a:rPr lang="en-US" sz="1900" b="1" dirty="0">
                <a:solidFill>
                  <a:srgbClr val="0F172A"/>
                </a:solidFill>
                <a:latin typeface="Calibri" pitchFamily="34" charset="0"/>
                <a:ea typeface="Calibri" pitchFamily="34" charset="-122"/>
                <a:cs typeface="Calibri" pitchFamily="34" charset="-120"/>
              </a:rPr>
              <a:t>One click → ChatGPT</a:t>
            </a:r>
            <a:endParaRPr lang="en-US" sz="1900" dirty="0"/>
          </a:p>
        </p:txBody>
      </p:sp>
      <p:sp>
        <p:nvSpPr>
          <p:cNvPr id="20" name="Text 18"/>
          <p:cNvSpPr/>
          <p:nvPr/>
        </p:nvSpPr>
        <p:spPr>
          <a:xfrm>
            <a:off x="6510528" y="4023360"/>
            <a:ext cx="2130552" cy="1463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The cleaned text is handed off to ChatGPT, Claude, or any tool she trusts.</a:t>
            </a:r>
            <a:endParaRPr lang="en-US" sz="1300" dirty="0"/>
          </a:p>
        </p:txBody>
      </p:sp>
      <p:sp>
        <p:nvSpPr>
          <p:cNvPr id="21" name="Shape 19"/>
          <p:cNvSpPr/>
          <p:nvPr/>
        </p:nvSpPr>
        <p:spPr>
          <a:xfrm>
            <a:off x="9079992" y="2331720"/>
            <a:ext cx="2679192" cy="329184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22" name="Shape 20"/>
          <p:cNvSpPr/>
          <p:nvPr/>
        </p:nvSpPr>
        <p:spPr>
          <a:xfrm>
            <a:off x="9079992" y="2331720"/>
            <a:ext cx="2679192" cy="73152"/>
          </a:xfrm>
          <a:prstGeom prst="rect">
            <a:avLst/>
          </a:prstGeom>
          <a:solidFill>
            <a:srgbClr val="38BDF8"/>
          </a:solidFill>
          <a:ln/>
        </p:spPr>
        <p:txBody>
          <a:bodyPr/>
          <a:lstStyle/>
          <a:p>
            <a:endParaRPr lang="de-DE"/>
          </a:p>
        </p:txBody>
      </p:sp>
      <p:sp>
        <p:nvSpPr>
          <p:cNvPr id="23" name="Text 21"/>
          <p:cNvSpPr/>
          <p:nvPr/>
        </p:nvSpPr>
        <p:spPr>
          <a:xfrm>
            <a:off x="9354312" y="2606040"/>
            <a:ext cx="2130552" cy="320040"/>
          </a:xfrm>
          <a:prstGeom prst="rect">
            <a:avLst/>
          </a:prstGeom>
          <a:noFill/>
          <a:ln/>
        </p:spPr>
        <p:txBody>
          <a:bodyPr wrap="square" lIns="0" tIns="0" rIns="0" bIns="0" rtlCol="0" anchor="ctr"/>
          <a:lstStyle/>
          <a:p>
            <a:pPr marL="0" indent="0">
              <a:buNone/>
            </a:pPr>
            <a:r>
              <a:rPr lang="en-US" sz="1200" b="1" kern="0" spc="400" dirty="0">
                <a:solidFill>
                  <a:srgbClr val="38BDF8"/>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9354312" y="2971800"/>
            <a:ext cx="2130552" cy="1005840"/>
          </a:xfrm>
          <a:prstGeom prst="rect">
            <a:avLst/>
          </a:prstGeom>
          <a:noFill/>
          <a:ln/>
        </p:spPr>
        <p:txBody>
          <a:bodyPr wrap="square" lIns="0" tIns="0" rIns="0" bIns="0" rtlCol="0" anchor="ctr"/>
          <a:lstStyle/>
          <a:p>
            <a:pPr marL="0" indent="0">
              <a:buNone/>
            </a:pPr>
            <a:r>
              <a:rPr lang="en-US" sz="1900" b="1" dirty="0">
                <a:solidFill>
                  <a:srgbClr val="0F172A"/>
                </a:solidFill>
                <a:latin typeface="Calibri" pitchFamily="34" charset="0"/>
                <a:ea typeface="Calibri" pitchFamily="34" charset="-122"/>
                <a:cs typeface="Calibri" pitchFamily="34" charset="-120"/>
              </a:rPr>
              <a:t>She asks anything</a:t>
            </a:r>
            <a:endParaRPr lang="en-US" sz="1900" dirty="0"/>
          </a:p>
        </p:txBody>
      </p:sp>
      <p:sp>
        <p:nvSpPr>
          <p:cNvPr id="25" name="Text 23"/>
          <p:cNvSpPr/>
          <p:nvPr/>
        </p:nvSpPr>
        <p:spPr>
          <a:xfrm>
            <a:off x="9354312" y="4023360"/>
            <a:ext cx="2130552" cy="1463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Real reasoning on the dummy version. No client data ever left the firm.</a:t>
            </a:r>
            <a:endParaRPr lang="en-US" sz="1300" dirty="0"/>
          </a:p>
        </p:txBody>
      </p:sp>
      <p:sp>
        <p:nvSpPr>
          <p:cNvPr id="26" name="Shape 24"/>
          <p:cNvSpPr/>
          <p:nvPr/>
        </p:nvSpPr>
        <p:spPr>
          <a:xfrm>
            <a:off x="548640" y="5897880"/>
            <a:ext cx="11091672" cy="685800"/>
          </a:xfrm>
          <a:prstGeom prst="rect">
            <a:avLst/>
          </a:prstGeom>
          <a:solidFill>
            <a:srgbClr val="1E2761"/>
          </a:solidFill>
          <a:ln/>
        </p:spPr>
        <p:txBody>
          <a:bodyPr/>
          <a:lstStyle/>
          <a:p>
            <a:endParaRPr lang="de-DE"/>
          </a:p>
        </p:txBody>
      </p:sp>
      <p:sp>
        <p:nvSpPr>
          <p:cNvPr id="27" name="Text 25"/>
          <p:cNvSpPr/>
          <p:nvPr/>
        </p:nvSpPr>
        <p:spPr>
          <a:xfrm>
            <a:off x="548640" y="5897880"/>
            <a:ext cx="11091672" cy="6858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Same workflow for any tool: </a:t>
            </a:r>
            <a:r>
              <a:rPr lang="en-US" sz="1600" b="1" dirty="0">
                <a:solidFill>
                  <a:srgbClr val="38BDF8"/>
                </a:solidFill>
                <a:latin typeface="Calibri" pitchFamily="34" charset="0"/>
                <a:ea typeface="Calibri" pitchFamily="34" charset="-122"/>
                <a:cs typeface="Calibri" pitchFamily="34" charset="-120"/>
              </a:rPr>
              <a:t>ChatGPT  ·  Claude  ·  Gemini  ·  internal agents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502920" y="292608"/>
            <a:ext cx="1207008" cy="502920"/>
          </a:xfrm>
          <a:prstGeom prst="rect">
            <a:avLst/>
          </a:prstGeom>
          <a:solidFill>
            <a:srgbClr val="FFFFFF"/>
          </a:solidFill>
          <a:ln/>
        </p:spPr>
        <p:txBody>
          <a:bodyPr/>
          <a:lstStyle/>
          <a:p>
            <a:endParaRPr lang="de-DE"/>
          </a:p>
        </p:txBody>
      </p:sp>
      <p:sp>
        <p:nvSpPr>
          <p:cNvPr id="3" name="Text 1"/>
          <p:cNvSpPr/>
          <p:nvPr/>
        </p:nvSpPr>
        <p:spPr>
          <a:xfrm>
            <a:off x="502920" y="292608"/>
            <a:ext cx="1207008" cy="50292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ch</a:t>
            </a:r>
            <a:r>
              <a:rPr lang="en-US" sz="2200" b="1" dirty="0">
                <a:solidFill>
                  <a:srgbClr val="38BDF8"/>
                </a:solidFill>
                <a:latin typeface="Calibri" pitchFamily="34" charset="0"/>
                <a:ea typeface="Calibri" pitchFamily="34" charset="-122"/>
                <a:cs typeface="Calibri" pitchFamily="34" charset="-120"/>
              </a:rPr>
              <a:t>AI</a:t>
            </a:r>
            <a:r>
              <a:rPr lang="en-US" sz="2200" b="1" dirty="0">
                <a:solidFill>
                  <a:srgbClr val="0F172A"/>
                </a:solidFill>
                <a:latin typeface="Calibri" pitchFamily="34" charset="0"/>
                <a:ea typeface="Calibri" pitchFamily="34" charset="-122"/>
                <a:cs typeface="Calibri" pitchFamily="34" charset="-120"/>
              </a:rPr>
              <a:t>n</a:t>
            </a:r>
            <a:endParaRPr lang="en-US" sz="2200" dirty="0"/>
          </a:p>
        </p:txBody>
      </p:sp>
      <p:sp>
        <p:nvSpPr>
          <p:cNvPr id="4" name="Text 2"/>
          <p:cNvSpPr/>
          <p:nvPr/>
        </p:nvSpPr>
        <p:spPr>
          <a:xfrm>
            <a:off x="548640" y="868680"/>
            <a:ext cx="10972800" cy="640080"/>
          </a:xfrm>
          <a:prstGeom prst="rect">
            <a:avLst/>
          </a:prstGeom>
          <a:noFill/>
          <a:ln/>
        </p:spPr>
        <p:txBody>
          <a:bodyPr wrap="square" lIns="0" tIns="0" rIns="0" bIns="0" rtlCol="0" anchor="ctr"/>
          <a:lstStyle/>
          <a:p>
            <a:pPr marL="0" indent="0">
              <a:buNone/>
            </a:pPr>
            <a:r>
              <a:rPr lang="en-US" sz="4000" b="1" dirty="0">
                <a:solidFill>
                  <a:srgbClr val="0F172A"/>
                </a:solidFill>
                <a:latin typeface="Calibri" pitchFamily="34" charset="0"/>
                <a:ea typeface="Calibri" pitchFamily="34" charset="-122"/>
                <a:cs typeface="Calibri" pitchFamily="34" charset="-120"/>
              </a:rPr>
              <a:t>Demo · Privacy Gateway</a:t>
            </a:r>
            <a:endParaRPr lang="en-US" sz="4000" dirty="0"/>
          </a:p>
        </p:txBody>
      </p:sp>
      <p:sp>
        <p:nvSpPr>
          <p:cNvPr id="5" name="Text 3"/>
          <p:cNvSpPr/>
          <p:nvPr/>
        </p:nvSpPr>
        <p:spPr>
          <a:xfrm>
            <a:off x="548640" y="1508760"/>
            <a:ext cx="10972800" cy="41148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Paste in a real-looking message. Watch the critical spans get classified and rewritten.</a:t>
            </a:r>
            <a:endParaRPr lang="en-US" sz="1800" dirty="0"/>
          </a:p>
        </p:txBody>
      </p:sp>
      <p:sp>
        <p:nvSpPr>
          <p:cNvPr id="6" name="Shape 4"/>
          <p:cNvSpPr/>
          <p:nvPr/>
        </p:nvSpPr>
        <p:spPr>
          <a:xfrm>
            <a:off x="548640" y="2331720"/>
            <a:ext cx="2121408" cy="228600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7" name="Text 5"/>
          <p:cNvSpPr/>
          <p:nvPr/>
        </p:nvSpPr>
        <p:spPr>
          <a:xfrm>
            <a:off x="777240" y="2514600"/>
            <a:ext cx="1664208" cy="320040"/>
          </a:xfrm>
          <a:prstGeom prst="rect">
            <a:avLst/>
          </a:prstGeom>
          <a:noFill/>
          <a:ln/>
        </p:spPr>
        <p:txBody>
          <a:bodyPr wrap="square" lIns="0" tIns="0" rIns="0" bIns="0" rtlCol="0" anchor="ctr"/>
          <a:lstStyle/>
          <a:p>
            <a:pPr marL="0" indent="0">
              <a:buNone/>
            </a:pPr>
            <a:r>
              <a:rPr lang="en-US" sz="1200" b="1" kern="0" spc="400" dirty="0">
                <a:solidFill>
                  <a:srgbClr val="38BDF8"/>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777240" y="2880360"/>
            <a:ext cx="1664208" cy="64008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Paste / upload</a:t>
            </a:r>
            <a:endParaRPr lang="en-US" sz="1700" dirty="0"/>
          </a:p>
        </p:txBody>
      </p:sp>
      <p:sp>
        <p:nvSpPr>
          <p:cNvPr id="9" name="Text 7"/>
          <p:cNvSpPr/>
          <p:nvPr/>
        </p:nvSpPr>
        <p:spPr>
          <a:xfrm>
            <a:off x="777240" y="3611880"/>
            <a:ext cx="1664208" cy="9144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Your raw outbound text or document.</a:t>
            </a:r>
            <a:endParaRPr lang="en-US" sz="1200" dirty="0"/>
          </a:p>
        </p:txBody>
      </p:sp>
      <p:sp>
        <p:nvSpPr>
          <p:cNvPr id="10" name="Shape 8"/>
          <p:cNvSpPr/>
          <p:nvPr/>
        </p:nvSpPr>
        <p:spPr>
          <a:xfrm>
            <a:off x="2834640" y="2331720"/>
            <a:ext cx="2121408" cy="228600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1" name="Text 9"/>
          <p:cNvSpPr/>
          <p:nvPr/>
        </p:nvSpPr>
        <p:spPr>
          <a:xfrm>
            <a:off x="3063240" y="2514600"/>
            <a:ext cx="1664208" cy="320040"/>
          </a:xfrm>
          <a:prstGeom prst="rect">
            <a:avLst/>
          </a:prstGeom>
          <a:noFill/>
          <a:ln/>
        </p:spPr>
        <p:txBody>
          <a:bodyPr wrap="square" lIns="0" tIns="0" rIns="0" bIns="0" rtlCol="0" anchor="ctr"/>
          <a:lstStyle/>
          <a:p>
            <a:pPr marL="0" indent="0">
              <a:buNone/>
            </a:pPr>
            <a:r>
              <a:rPr lang="en-US" sz="1200" b="1" kern="0" spc="400" dirty="0">
                <a:solidFill>
                  <a:srgbClr val="38BDF8"/>
                </a:solidFill>
                <a:latin typeface="Calibri" pitchFamily="34" charset="0"/>
                <a:ea typeface="Calibri" pitchFamily="34" charset="-122"/>
                <a:cs typeface="Calibri" pitchFamily="34" charset="-120"/>
              </a:rPr>
              <a:t>02</a:t>
            </a:r>
            <a:endParaRPr lang="en-US" sz="1200" dirty="0"/>
          </a:p>
        </p:txBody>
      </p:sp>
      <p:sp>
        <p:nvSpPr>
          <p:cNvPr id="12" name="Text 10"/>
          <p:cNvSpPr/>
          <p:nvPr/>
        </p:nvSpPr>
        <p:spPr>
          <a:xfrm>
            <a:off x="3063240" y="2880360"/>
            <a:ext cx="1664208" cy="64008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Classify</a:t>
            </a:r>
            <a:endParaRPr lang="en-US" sz="1700" dirty="0"/>
          </a:p>
        </p:txBody>
      </p:sp>
      <p:sp>
        <p:nvSpPr>
          <p:cNvPr id="13" name="Text 11"/>
          <p:cNvSpPr/>
          <p:nvPr/>
        </p:nvSpPr>
        <p:spPr>
          <a:xfrm>
            <a:off x="3063240" y="3611880"/>
            <a:ext cx="1664208" cy="9144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Model returns CRITICAL spans by category.</a:t>
            </a:r>
            <a:endParaRPr lang="en-US" sz="1200" dirty="0"/>
          </a:p>
        </p:txBody>
      </p:sp>
      <p:sp>
        <p:nvSpPr>
          <p:cNvPr id="14" name="Shape 12"/>
          <p:cNvSpPr/>
          <p:nvPr/>
        </p:nvSpPr>
        <p:spPr>
          <a:xfrm>
            <a:off x="5120640" y="2331720"/>
            <a:ext cx="2121408" cy="228600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5" name="Text 13"/>
          <p:cNvSpPr/>
          <p:nvPr/>
        </p:nvSpPr>
        <p:spPr>
          <a:xfrm>
            <a:off x="5349240" y="2514600"/>
            <a:ext cx="1664208" cy="320040"/>
          </a:xfrm>
          <a:prstGeom prst="rect">
            <a:avLst/>
          </a:prstGeom>
          <a:noFill/>
          <a:ln/>
        </p:spPr>
        <p:txBody>
          <a:bodyPr wrap="square" lIns="0" tIns="0" rIns="0" bIns="0" rtlCol="0" anchor="ctr"/>
          <a:lstStyle/>
          <a:p>
            <a:pPr marL="0" indent="0">
              <a:buNone/>
            </a:pPr>
            <a:r>
              <a:rPr lang="en-US" sz="1200" b="1" kern="0" spc="400" dirty="0">
                <a:solidFill>
                  <a:srgbClr val="38BDF8"/>
                </a:solidFill>
                <a:latin typeface="Calibri" pitchFamily="34" charset="0"/>
                <a:ea typeface="Calibri" pitchFamily="34" charset="-122"/>
                <a:cs typeface="Calibri" pitchFamily="34" charset="-120"/>
              </a:rPr>
              <a:t>03</a:t>
            </a:r>
            <a:endParaRPr lang="en-US" sz="1200" dirty="0"/>
          </a:p>
        </p:txBody>
      </p:sp>
      <p:sp>
        <p:nvSpPr>
          <p:cNvPr id="16" name="Text 14"/>
          <p:cNvSpPr/>
          <p:nvPr/>
        </p:nvSpPr>
        <p:spPr>
          <a:xfrm>
            <a:off x="5349240" y="2880360"/>
            <a:ext cx="1664208" cy="64008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Rewrite</a:t>
            </a:r>
            <a:endParaRPr lang="en-US" sz="1700" dirty="0"/>
          </a:p>
        </p:txBody>
      </p:sp>
      <p:sp>
        <p:nvSpPr>
          <p:cNvPr id="17" name="Text 15"/>
          <p:cNvSpPr/>
          <p:nvPr/>
        </p:nvSpPr>
        <p:spPr>
          <a:xfrm>
            <a:off x="5349240" y="3611880"/>
            <a:ext cx="1664208" cy="9144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Placeholder mode or dummy mode.</a:t>
            </a:r>
            <a:endParaRPr lang="en-US" sz="1200" dirty="0"/>
          </a:p>
        </p:txBody>
      </p:sp>
      <p:sp>
        <p:nvSpPr>
          <p:cNvPr id="18" name="Shape 16"/>
          <p:cNvSpPr/>
          <p:nvPr/>
        </p:nvSpPr>
        <p:spPr>
          <a:xfrm>
            <a:off x="7406640" y="2331720"/>
            <a:ext cx="2121408" cy="228600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9" name="Text 17"/>
          <p:cNvSpPr/>
          <p:nvPr/>
        </p:nvSpPr>
        <p:spPr>
          <a:xfrm>
            <a:off x="7635240" y="2514600"/>
            <a:ext cx="1664208" cy="320040"/>
          </a:xfrm>
          <a:prstGeom prst="rect">
            <a:avLst/>
          </a:prstGeom>
          <a:noFill/>
          <a:ln/>
        </p:spPr>
        <p:txBody>
          <a:bodyPr wrap="square" lIns="0" tIns="0" rIns="0" bIns="0" rtlCol="0" anchor="ctr"/>
          <a:lstStyle/>
          <a:p>
            <a:pPr marL="0" indent="0">
              <a:buNone/>
            </a:pPr>
            <a:r>
              <a:rPr lang="en-US" sz="1200" b="1" kern="0" spc="400" dirty="0">
                <a:solidFill>
                  <a:srgbClr val="38BDF8"/>
                </a:solidFill>
                <a:latin typeface="Calibri" pitchFamily="34" charset="0"/>
                <a:ea typeface="Calibri" pitchFamily="34" charset="-122"/>
                <a:cs typeface="Calibri" pitchFamily="34" charset="-120"/>
              </a:rPr>
              <a:t>04</a:t>
            </a:r>
            <a:endParaRPr lang="en-US" sz="1200" dirty="0"/>
          </a:p>
        </p:txBody>
      </p:sp>
      <p:sp>
        <p:nvSpPr>
          <p:cNvPr id="20" name="Text 18"/>
          <p:cNvSpPr/>
          <p:nvPr/>
        </p:nvSpPr>
        <p:spPr>
          <a:xfrm>
            <a:off x="7635240" y="2880360"/>
            <a:ext cx="1664208" cy="64008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Review</a:t>
            </a:r>
            <a:endParaRPr lang="en-US" sz="1700" dirty="0"/>
          </a:p>
        </p:txBody>
      </p:sp>
      <p:sp>
        <p:nvSpPr>
          <p:cNvPr id="21" name="Text 19"/>
          <p:cNvSpPr/>
          <p:nvPr/>
        </p:nvSpPr>
        <p:spPr>
          <a:xfrm>
            <a:off x="7635240" y="3611880"/>
            <a:ext cx="1664208" cy="9144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Optional human-in-the-loop, EU-aware.</a:t>
            </a:r>
            <a:endParaRPr lang="en-US" sz="1200" dirty="0"/>
          </a:p>
        </p:txBody>
      </p:sp>
      <p:sp>
        <p:nvSpPr>
          <p:cNvPr id="22" name="Shape 20"/>
          <p:cNvSpPr/>
          <p:nvPr/>
        </p:nvSpPr>
        <p:spPr>
          <a:xfrm>
            <a:off x="9692640" y="2331720"/>
            <a:ext cx="2121408" cy="228600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23" name="Text 21"/>
          <p:cNvSpPr/>
          <p:nvPr/>
        </p:nvSpPr>
        <p:spPr>
          <a:xfrm>
            <a:off x="9921240" y="2514600"/>
            <a:ext cx="1664208" cy="320040"/>
          </a:xfrm>
          <a:prstGeom prst="rect">
            <a:avLst/>
          </a:prstGeom>
          <a:noFill/>
          <a:ln/>
        </p:spPr>
        <p:txBody>
          <a:bodyPr wrap="square" lIns="0" tIns="0" rIns="0" bIns="0" rtlCol="0" anchor="ctr"/>
          <a:lstStyle/>
          <a:p>
            <a:pPr marL="0" indent="0">
              <a:buNone/>
            </a:pPr>
            <a:r>
              <a:rPr lang="en-US" sz="1200" b="1" kern="0" spc="400" dirty="0">
                <a:solidFill>
                  <a:srgbClr val="38BDF8"/>
                </a:solidFill>
                <a:latin typeface="Calibri" pitchFamily="34" charset="0"/>
                <a:ea typeface="Calibri" pitchFamily="34" charset="-122"/>
                <a:cs typeface="Calibri" pitchFamily="34" charset="-120"/>
              </a:rPr>
              <a:t>05</a:t>
            </a:r>
            <a:endParaRPr lang="en-US" sz="1200" dirty="0"/>
          </a:p>
        </p:txBody>
      </p:sp>
      <p:sp>
        <p:nvSpPr>
          <p:cNvPr id="24" name="Text 22"/>
          <p:cNvSpPr/>
          <p:nvPr/>
        </p:nvSpPr>
        <p:spPr>
          <a:xfrm>
            <a:off x="9921240" y="2880360"/>
            <a:ext cx="1664208" cy="64008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Send</a:t>
            </a:r>
            <a:endParaRPr lang="en-US" sz="1700" dirty="0"/>
          </a:p>
        </p:txBody>
      </p:sp>
      <p:sp>
        <p:nvSpPr>
          <p:cNvPr id="25" name="Text 23"/>
          <p:cNvSpPr/>
          <p:nvPr/>
        </p:nvSpPr>
        <p:spPr>
          <a:xfrm>
            <a:off x="9921240" y="3611880"/>
            <a:ext cx="1664208" cy="9144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Operational meaning kept. Private data never left.</a:t>
            </a:r>
            <a:endParaRPr lang="en-US" sz="1200" dirty="0"/>
          </a:p>
        </p:txBody>
      </p:sp>
      <p:sp>
        <p:nvSpPr>
          <p:cNvPr id="26" name="Shape 24"/>
          <p:cNvSpPr/>
          <p:nvPr/>
        </p:nvSpPr>
        <p:spPr>
          <a:xfrm>
            <a:off x="548640" y="4846320"/>
            <a:ext cx="5486400" cy="1783080"/>
          </a:xfrm>
          <a:prstGeom prst="rect">
            <a:avLst/>
          </a:prstGeom>
          <a:solidFill>
            <a:srgbClr val="FFFFFF"/>
          </a:solidFill>
          <a:ln w="25400">
            <a:solidFill>
              <a:srgbClr val="F59E0B"/>
            </a:solidFill>
            <a:prstDash val="solid"/>
          </a:ln>
        </p:spPr>
        <p:txBody>
          <a:bodyPr/>
          <a:lstStyle/>
          <a:p>
            <a:endParaRPr lang="de-DE"/>
          </a:p>
        </p:txBody>
      </p:sp>
      <p:sp>
        <p:nvSpPr>
          <p:cNvPr id="27" name="Text 25"/>
          <p:cNvSpPr/>
          <p:nvPr/>
        </p:nvSpPr>
        <p:spPr>
          <a:xfrm>
            <a:off x="914400" y="5029200"/>
            <a:ext cx="4754880" cy="274320"/>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ea typeface="Calibri" pitchFamily="34" charset="-122"/>
                <a:cs typeface="Calibri" pitchFamily="34" charset="-120"/>
              </a:rPr>
              <a:t>PLACEHOLDER MODE</a:t>
            </a:r>
            <a:endParaRPr lang="en-US" sz="1100" dirty="0"/>
          </a:p>
        </p:txBody>
      </p:sp>
      <p:sp>
        <p:nvSpPr>
          <p:cNvPr id="28" name="Text 26"/>
          <p:cNvSpPr/>
          <p:nvPr/>
        </p:nvSpPr>
        <p:spPr>
          <a:xfrm>
            <a:off x="914400" y="5349240"/>
            <a:ext cx="4754880" cy="868680"/>
          </a:xfrm>
          <a:prstGeom prst="rect">
            <a:avLst/>
          </a:prstGeom>
          <a:noFill/>
          <a:ln/>
        </p:spPr>
        <p:txBody>
          <a:bodyPr wrap="square" lIns="0" tIns="0" rIns="0" bIns="0" rtlCol="0" anchor="t"/>
          <a:lstStyle/>
          <a:p>
            <a:pPr marL="0" indent="0">
              <a:spcAft>
                <a:spcPts val="400"/>
              </a:spcAft>
              <a:buNone/>
            </a:pPr>
            <a:r>
              <a:rPr lang="en-US" sz="1400" dirty="0">
                <a:solidFill>
                  <a:srgbClr val="64748B"/>
                </a:solidFill>
                <a:latin typeface="Calibri" pitchFamily="34" charset="0"/>
                <a:ea typeface="Calibri" pitchFamily="34" charset="-122"/>
                <a:cs typeface="Calibri" pitchFamily="34" charset="-120"/>
              </a:rPr>
              <a:t>John Smith  →  </a:t>
            </a:r>
            <a:r>
              <a:rPr lang="en-US" sz="1400" b="1" dirty="0">
                <a:solidFill>
                  <a:srgbClr val="F59E0B"/>
                </a:solidFill>
                <a:latin typeface="Courier New" pitchFamily="34" charset="0"/>
                <a:ea typeface="Courier New" pitchFamily="34" charset="-122"/>
                <a:cs typeface="Courier New" pitchFamily="34" charset="-120"/>
              </a:rPr>
              <a:t>[CLIENT_NAME]</a:t>
            </a:r>
            <a:endParaRPr lang="en-US" sz="1400" dirty="0"/>
          </a:p>
          <a:p>
            <a:pPr marL="0" indent="0">
              <a:spcAft>
                <a:spcPts val="400"/>
              </a:spcAft>
              <a:buNone/>
            </a:pPr>
            <a:r>
              <a:rPr lang="en-US" sz="1400" dirty="0">
                <a:solidFill>
                  <a:srgbClr val="64748B"/>
                </a:solidFill>
                <a:latin typeface="Calibri" pitchFamily="34" charset="0"/>
                <a:ea typeface="Calibri" pitchFamily="34" charset="-122"/>
                <a:cs typeface="Calibri" pitchFamily="34" charset="-120"/>
              </a:rPr>
              <a:t>AT12 3456 7890  →  </a:t>
            </a:r>
            <a:r>
              <a:rPr lang="en-US" sz="1400" b="1" dirty="0">
                <a:solidFill>
                  <a:srgbClr val="F59E0B"/>
                </a:solidFill>
                <a:latin typeface="Courier New" pitchFamily="34" charset="0"/>
                <a:ea typeface="Courier New" pitchFamily="34" charset="-122"/>
                <a:cs typeface="Courier New" pitchFamily="34" charset="-120"/>
              </a:rPr>
              <a:t>[BANK_ACCOUNT]</a:t>
            </a:r>
            <a:endParaRPr lang="en-US" sz="1400" dirty="0"/>
          </a:p>
        </p:txBody>
      </p:sp>
      <p:sp>
        <p:nvSpPr>
          <p:cNvPr id="29" name="Shape 27"/>
          <p:cNvSpPr/>
          <p:nvPr/>
        </p:nvSpPr>
        <p:spPr>
          <a:xfrm>
            <a:off x="6153912" y="4846320"/>
            <a:ext cx="5486400" cy="1783080"/>
          </a:xfrm>
          <a:prstGeom prst="rect">
            <a:avLst/>
          </a:prstGeom>
          <a:solidFill>
            <a:srgbClr val="FFFFFF"/>
          </a:solidFill>
          <a:ln w="25400">
            <a:solidFill>
              <a:srgbClr val="38BDF8"/>
            </a:solidFill>
            <a:prstDash val="solid"/>
          </a:ln>
        </p:spPr>
        <p:txBody>
          <a:bodyPr/>
          <a:lstStyle/>
          <a:p>
            <a:endParaRPr lang="de-DE"/>
          </a:p>
        </p:txBody>
      </p:sp>
      <p:sp>
        <p:nvSpPr>
          <p:cNvPr id="30" name="Text 28"/>
          <p:cNvSpPr/>
          <p:nvPr/>
        </p:nvSpPr>
        <p:spPr>
          <a:xfrm>
            <a:off x="6519672" y="5029200"/>
            <a:ext cx="4754880" cy="274320"/>
          </a:xfrm>
          <a:prstGeom prst="rect">
            <a:avLst/>
          </a:prstGeom>
          <a:noFill/>
          <a:ln/>
        </p:spPr>
        <p:txBody>
          <a:bodyPr wrap="square" lIns="0" tIns="0" rIns="0" bIns="0" rtlCol="0" anchor="ctr"/>
          <a:lstStyle/>
          <a:p>
            <a:pPr marL="0" indent="0">
              <a:buNone/>
            </a:pPr>
            <a:r>
              <a:rPr lang="en-US" sz="1100" b="1" kern="0" spc="300" dirty="0">
                <a:solidFill>
                  <a:srgbClr val="38BDF8"/>
                </a:solidFill>
                <a:latin typeface="Calibri" pitchFamily="34" charset="0"/>
                <a:ea typeface="Calibri" pitchFamily="34" charset="-122"/>
                <a:cs typeface="Calibri" pitchFamily="34" charset="-120"/>
              </a:rPr>
              <a:t>DUMMY MODE</a:t>
            </a:r>
            <a:endParaRPr lang="en-US" sz="1100" dirty="0"/>
          </a:p>
        </p:txBody>
      </p:sp>
      <p:sp>
        <p:nvSpPr>
          <p:cNvPr id="31" name="Text 29"/>
          <p:cNvSpPr/>
          <p:nvPr/>
        </p:nvSpPr>
        <p:spPr>
          <a:xfrm>
            <a:off x="6519672" y="5349240"/>
            <a:ext cx="4754880" cy="868680"/>
          </a:xfrm>
          <a:prstGeom prst="rect">
            <a:avLst/>
          </a:prstGeom>
          <a:noFill/>
          <a:ln/>
        </p:spPr>
        <p:txBody>
          <a:bodyPr wrap="square" lIns="0" tIns="0" rIns="0" bIns="0" rtlCol="0" anchor="t"/>
          <a:lstStyle/>
          <a:p>
            <a:pPr marL="0" indent="0">
              <a:spcAft>
                <a:spcPts val="400"/>
              </a:spcAft>
              <a:buNone/>
            </a:pPr>
            <a:r>
              <a:rPr lang="en-US" sz="1400" dirty="0">
                <a:solidFill>
                  <a:srgbClr val="64748B"/>
                </a:solidFill>
                <a:latin typeface="Calibri" pitchFamily="34" charset="0"/>
                <a:ea typeface="Calibri" pitchFamily="34" charset="-122"/>
                <a:cs typeface="Calibri" pitchFamily="34" charset="-120"/>
              </a:rPr>
              <a:t>John Smith  →  </a:t>
            </a:r>
            <a:r>
              <a:rPr lang="en-US" sz="1400" b="1" dirty="0">
                <a:solidFill>
                  <a:srgbClr val="38BDF8"/>
                </a:solidFill>
                <a:latin typeface="Courier New" pitchFamily="34" charset="0"/>
                <a:ea typeface="Courier New" pitchFamily="34" charset="-122"/>
                <a:cs typeface="Courier New" pitchFamily="34" charset="-120"/>
              </a:rPr>
              <a:t>Markus Hofer</a:t>
            </a:r>
            <a:endParaRPr lang="en-US" sz="1400" dirty="0"/>
          </a:p>
          <a:p>
            <a:pPr marL="0" indent="0">
              <a:spcAft>
                <a:spcPts val="400"/>
              </a:spcAft>
              <a:buNone/>
            </a:pPr>
            <a:r>
              <a:rPr lang="en-US" sz="1400" dirty="0">
                <a:solidFill>
                  <a:srgbClr val="64748B"/>
                </a:solidFill>
                <a:latin typeface="Calibri" pitchFamily="34" charset="0"/>
                <a:ea typeface="Calibri" pitchFamily="34" charset="-122"/>
                <a:cs typeface="Calibri" pitchFamily="34" charset="-120"/>
              </a:rPr>
              <a:t>AT12 3456 7890  →  </a:t>
            </a:r>
            <a:r>
              <a:rPr lang="en-US" sz="1400" b="1" dirty="0">
                <a:solidFill>
                  <a:srgbClr val="38BDF8"/>
                </a:solidFill>
                <a:latin typeface="Courier New" pitchFamily="34" charset="0"/>
                <a:ea typeface="Courier New" pitchFamily="34" charset="-122"/>
                <a:cs typeface="Courier New" pitchFamily="34" charset="-120"/>
              </a:rPr>
              <a:t>AT77 9120 5503 8842</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502920" y="292608"/>
            <a:ext cx="1207008" cy="502920"/>
          </a:xfrm>
          <a:prstGeom prst="rect">
            <a:avLst/>
          </a:prstGeom>
          <a:solidFill>
            <a:srgbClr val="FFFFFF"/>
          </a:solidFill>
          <a:ln/>
        </p:spPr>
        <p:txBody>
          <a:bodyPr/>
          <a:lstStyle/>
          <a:p>
            <a:endParaRPr lang="de-DE"/>
          </a:p>
        </p:txBody>
      </p:sp>
      <p:sp>
        <p:nvSpPr>
          <p:cNvPr id="3" name="Text 1"/>
          <p:cNvSpPr/>
          <p:nvPr/>
        </p:nvSpPr>
        <p:spPr>
          <a:xfrm>
            <a:off x="502920" y="292608"/>
            <a:ext cx="1207008" cy="50292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ch</a:t>
            </a:r>
            <a:r>
              <a:rPr lang="en-US" sz="2200" b="1" dirty="0">
                <a:solidFill>
                  <a:srgbClr val="38BDF8"/>
                </a:solidFill>
                <a:latin typeface="Calibri" pitchFamily="34" charset="0"/>
                <a:ea typeface="Calibri" pitchFamily="34" charset="-122"/>
                <a:cs typeface="Calibri" pitchFamily="34" charset="-120"/>
              </a:rPr>
              <a:t>AI</a:t>
            </a:r>
            <a:r>
              <a:rPr lang="en-US" sz="2200" b="1" dirty="0">
                <a:solidFill>
                  <a:srgbClr val="0F172A"/>
                </a:solidFill>
                <a:latin typeface="Calibri" pitchFamily="34" charset="0"/>
                <a:ea typeface="Calibri" pitchFamily="34" charset="-122"/>
                <a:cs typeface="Calibri" pitchFamily="34" charset="-120"/>
              </a:rPr>
              <a:t>n</a:t>
            </a:r>
            <a:endParaRPr lang="en-US" sz="2200" dirty="0"/>
          </a:p>
        </p:txBody>
      </p:sp>
      <p:sp>
        <p:nvSpPr>
          <p:cNvPr id="4" name="Text 2"/>
          <p:cNvSpPr/>
          <p:nvPr/>
        </p:nvSpPr>
        <p:spPr>
          <a:xfrm>
            <a:off x="548640" y="868680"/>
            <a:ext cx="10972800" cy="640080"/>
          </a:xfrm>
          <a:prstGeom prst="rect">
            <a:avLst/>
          </a:prstGeom>
          <a:noFill/>
          <a:ln/>
        </p:spPr>
        <p:txBody>
          <a:bodyPr wrap="square" lIns="0" tIns="0" rIns="0" bIns="0" rtlCol="0" anchor="ctr"/>
          <a:lstStyle/>
          <a:p>
            <a:pPr marL="0" indent="0">
              <a:buNone/>
            </a:pPr>
            <a:r>
              <a:rPr lang="en-US" sz="4000" b="1" dirty="0">
                <a:solidFill>
                  <a:srgbClr val="0F172A"/>
                </a:solidFill>
                <a:latin typeface="Calibri" pitchFamily="34" charset="0"/>
                <a:ea typeface="Calibri" pitchFamily="34" charset="-122"/>
                <a:cs typeface="Calibri" pitchFamily="34" charset="-120"/>
              </a:rPr>
              <a:t>Demo · chAIn Network</a:t>
            </a:r>
            <a:endParaRPr lang="en-US" sz="4000" dirty="0"/>
          </a:p>
        </p:txBody>
      </p:sp>
      <p:sp>
        <p:nvSpPr>
          <p:cNvPr id="5" name="Text 3"/>
          <p:cNvSpPr/>
          <p:nvPr/>
        </p:nvSpPr>
        <p:spPr>
          <a:xfrm>
            <a:off x="548640" y="1508760"/>
            <a:ext cx="10972800" cy="41148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Stack Overflow for regulated work. Every post passes the gateway before it lands.</a:t>
            </a:r>
            <a:endParaRPr lang="en-US" sz="1800" dirty="0"/>
          </a:p>
        </p:txBody>
      </p:sp>
      <p:sp>
        <p:nvSpPr>
          <p:cNvPr id="6" name="Shape 4"/>
          <p:cNvSpPr/>
          <p:nvPr/>
        </p:nvSpPr>
        <p:spPr>
          <a:xfrm>
            <a:off x="548640" y="2331720"/>
            <a:ext cx="4754880" cy="365760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7" name="Text 5"/>
          <p:cNvSpPr/>
          <p:nvPr/>
        </p:nvSpPr>
        <p:spPr>
          <a:xfrm>
            <a:off x="914400" y="2606040"/>
            <a:ext cx="4023360" cy="274320"/>
          </a:xfrm>
          <a:prstGeom prst="rect">
            <a:avLst/>
          </a:prstGeom>
          <a:noFill/>
          <a:ln/>
        </p:spPr>
        <p:txBody>
          <a:bodyPr wrap="square" lIns="0" tIns="0" rIns="0" bIns="0" rtlCol="0" anchor="ctr"/>
          <a:lstStyle/>
          <a:p>
            <a:pPr marL="0" indent="0">
              <a:buNone/>
            </a:pPr>
            <a:r>
              <a:rPr lang="en-US" sz="1100" b="1" kern="0" spc="400" dirty="0">
                <a:solidFill>
                  <a:srgbClr val="38BDF8"/>
                </a:solidFill>
                <a:latin typeface="Calibri" pitchFamily="34" charset="0"/>
                <a:ea typeface="Calibri" pitchFamily="34" charset="-122"/>
                <a:cs typeface="Calibri" pitchFamily="34" charset="-120"/>
              </a:rPr>
              <a:t>WHAT'S IN IT</a:t>
            </a:r>
            <a:endParaRPr lang="en-US" sz="1100" dirty="0"/>
          </a:p>
        </p:txBody>
      </p:sp>
      <p:sp>
        <p:nvSpPr>
          <p:cNvPr id="8" name="Text 6"/>
          <p:cNvSpPr/>
          <p:nvPr/>
        </p:nvSpPr>
        <p:spPr>
          <a:xfrm>
            <a:off x="914400" y="2926080"/>
            <a:ext cx="4023360" cy="457200"/>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A feed for regulated work</a:t>
            </a:r>
            <a:endParaRPr lang="en-US" sz="2000" dirty="0"/>
          </a:p>
        </p:txBody>
      </p:sp>
      <p:sp>
        <p:nvSpPr>
          <p:cNvPr id="9" name="Text 7"/>
          <p:cNvSpPr/>
          <p:nvPr/>
        </p:nvSpPr>
        <p:spPr>
          <a:xfrm>
            <a:off x="914400" y="3474720"/>
            <a:ext cx="4023360" cy="237744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Topics across all regulated sectors</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Hashtags, search, follow</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Solved · Open status filters</a:t>
            </a:r>
            <a:endParaRPr lang="en-US" sz="1500" dirty="0"/>
          </a:p>
          <a:p>
            <a:pPr marL="342900" indent="-342900">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Compose modal IS the gateway</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API for agents (gateway runs on writes too)</a:t>
            </a:r>
            <a:endParaRPr lang="en-US" sz="1500" dirty="0"/>
          </a:p>
        </p:txBody>
      </p:sp>
      <p:sp>
        <p:nvSpPr>
          <p:cNvPr id="10" name="Shape 8"/>
          <p:cNvSpPr/>
          <p:nvPr/>
        </p:nvSpPr>
        <p:spPr>
          <a:xfrm>
            <a:off x="5486400" y="2331720"/>
            <a:ext cx="6336792" cy="3657600"/>
          </a:xfrm>
          <a:prstGeom prst="rect">
            <a:avLst/>
          </a:prstGeom>
          <a:solidFill>
            <a:srgbClr val="0B1431"/>
          </a:solidFill>
          <a:ln/>
          <a:effectLst>
            <a:outerShdw blurRad="228600" dist="38100" dir="5400000" algn="bl" rotWithShape="0">
              <a:srgbClr val="000000">
                <a:alpha val="10000"/>
              </a:srgbClr>
            </a:outerShdw>
          </a:effectLst>
        </p:spPr>
        <p:txBody>
          <a:bodyPr/>
          <a:lstStyle/>
          <a:p>
            <a:endParaRPr lang="de-DE"/>
          </a:p>
        </p:txBody>
      </p:sp>
      <p:sp>
        <p:nvSpPr>
          <p:cNvPr id="11" name="Shape 9"/>
          <p:cNvSpPr/>
          <p:nvPr/>
        </p:nvSpPr>
        <p:spPr>
          <a:xfrm>
            <a:off x="5486400" y="2331720"/>
            <a:ext cx="6336792" cy="411480"/>
          </a:xfrm>
          <a:prstGeom prst="rect">
            <a:avLst/>
          </a:prstGeom>
          <a:solidFill>
            <a:srgbClr val="1E2761"/>
          </a:solidFill>
          <a:ln/>
        </p:spPr>
        <p:txBody>
          <a:bodyPr/>
          <a:lstStyle/>
          <a:p>
            <a:endParaRPr lang="de-DE"/>
          </a:p>
        </p:txBody>
      </p:sp>
      <p:sp>
        <p:nvSpPr>
          <p:cNvPr id="12" name="Shape 10"/>
          <p:cNvSpPr/>
          <p:nvPr/>
        </p:nvSpPr>
        <p:spPr>
          <a:xfrm>
            <a:off x="5650992" y="2459736"/>
            <a:ext cx="155448" cy="155448"/>
          </a:xfrm>
          <a:prstGeom prst="ellipse">
            <a:avLst/>
          </a:prstGeom>
          <a:solidFill>
            <a:srgbClr val="EF4444"/>
          </a:solidFill>
          <a:ln/>
        </p:spPr>
        <p:txBody>
          <a:bodyPr/>
          <a:lstStyle/>
          <a:p>
            <a:endParaRPr lang="de-DE"/>
          </a:p>
        </p:txBody>
      </p:sp>
      <p:sp>
        <p:nvSpPr>
          <p:cNvPr id="13" name="Shape 11"/>
          <p:cNvSpPr/>
          <p:nvPr/>
        </p:nvSpPr>
        <p:spPr>
          <a:xfrm>
            <a:off x="5852160" y="2459736"/>
            <a:ext cx="155448" cy="155448"/>
          </a:xfrm>
          <a:prstGeom prst="ellipse">
            <a:avLst/>
          </a:prstGeom>
          <a:solidFill>
            <a:srgbClr val="F59E0B"/>
          </a:solidFill>
          <a:ln/>
        </p:spPr>
        <p:txBody>
          <a:bodyPr/>
          <a:lstStyle/>
          <a:p>
            <a:endParaRPr lang="de-DE"/>
          </a:p>
        </p:txBody>
      </p:sp>
      <p:sp>
        <p:nvSpPr>
          <p:cNvPr id="14" name="Shape 12"/>
          <p:cNvSpPr/>
          <p:nvPr/>
        </p:nvSpPr>
        <p:spPr>
          <a:xfrm>
            <a:off x="6053328" y="2459736"/>
            <a:ext cx="155448" cy="155448"/>
          </a:xfrm>
          <a:prstGeom prst="ellipse">
            <a:avLst/>
          </a:prstGeom>
          <a:solidFill>
            <a:srgbClr val="10B981"/>
          </a:solidFill>
          <a:ln/>
        </p:spPr>
        <p:txBody>
          <a:bodyPr/>
          <a:lstStyle/>
          <a:p>
            <a:endParaRPr lang="de-DE"/>
          </a:p>
        </p:txBody>
      </p:sp>
      <p:sp>
        <p:nvSpPr>
          <p:cNvPr id="15" name="Text 13"/>
          <p:cNvSpPr/>
          <p:nvPr/>
        </p:nvSpPr>
        <p:spPr>
          <a:xfrm>
            <a:off x="6400800" y="2377440"/>
            <a:ext cx="4965192" cy="320040"/>
          </a:xfrm>
          <a:prstGeom prst="rect">
            <a:avLst/>
          </a:prstGeom>
          <a:noFill/>
          <a:ln/>
        </p:spPr>
        <p:txBody>
          <a:bodyPr wrap="square" lIns="0" tIns="0" rIns="0" bIns="0" rtlCol="0" anchor="ctr"/>
          <a:lstStyle/>
          <a:p>
            <a:pPr marL="0" indent="0">
              <a:buNone/>
            </a:pPr>
            <a:r>
              <a:rPr lang="en-US" sz="1100" dirty="0">
                <a:solidFill>
                  <a:srgbClr val="CADCFC"/>
                </a:solidFill>
                <a:latin typeface="Courier New" pitchFamily="34" charset="0"/>
                <a:ea typeface="Courier New" pitchFamily="34" charset="-122"/>
                <a:cs typeface="Courier New" pitchFamily="34" charset="-120"/>
              </a:rPr>
              <a:t>chain.network/feed</a:t>
            </a:r>
            <a:endParaRPr lang="en-US" sz="1100" dirty="0"/>
          </a:p>
        </p:txBody>
      </p:sp>
      <p:sp>
        <p:nvSpPr>
          <p:cNvPr id="16" name="Shape 14"/>
          <p:cNvSpPr/>
          <p:nvPr/>
        </p:nvSpPr>
        <p:spPr>
          <a:xfrm>
            <a:off x="5715000" y="2880360"/>
            <a:ext cx="5879592" cy="676656"/>
          </a:xfrm>
          <a:prstGeom prst="rect">
            <a:avLst/>
          </a:prstGeom>
          <a:solidFill>
            <a:srgbClr val="1E2761"/>
          </a:solidFill>
          <a:ln w="12700">
            <a:solidFill>
              <a:srgbClr val="2A3878"/>
            </a:solidFill>
            <a:prstDash val="solid"/>
          </a:ln>
        </p:spPr>
        <p:txBody>
          <a:bodyPr/>
          <a:lstStyle/>
          <a:p>
            <a:endParaRPr lang="de-DE"/>
          </a:p>
        </p:txBody>
      </p:sp>
      <p:sp>
        <p:nvSpPr>
          <p:cNvPr id="17" name="Text 15"/>
          <p:cNvSpPr/>
          <p:nvPr/>
        </p:nvSpPr>
        <p:spPr>
          <a:xfrm>
            <a:off x="5897880" y="2971800"/>
            <a:ext cx="2286000" cy="228600"/>
          </a:xfrm>
          <a:prstGeom prst="rect">
            <a:avLst/>
          </a:prstGeom>
          <a:noFill/>
          <a:ln/>
        </p:spPr>
        <p:txBody>
          <a:bodyPr wrap="square" lIns="0" tIns="0" rIns="0" bIns="0" rtlCol="0" anchor="ctr"/>
          <a:lstStyle/>
          <a:p>
            <a:pPr marL="0" indent="0">
              <a:buNone/>
            </a:pPr>
            <a:r>
              <a:rPr lang="en-US" sz="1000" b="1" kern="0" spc="200" dirty="0">
                <a:solidFill>
                  <a:srgbClr val="10B981"/>
                </a:solidFill>
                <a:latin typeface="Calibri" pitchFamily="34" charset="0"/>
                <a:ea typeface="Calibri" pitchFamily="34" charset="-122"/>
                <a:cs typeface="Calibri" pitchFamily="34" charset="-120"/>
              </a:rPr>
              <a:t>TAX · SOLVED</a:t>
            </a:r>
            <a:endParaRPr lang="en-US" sz="1000" dirty="0"/>
          </a:p>
        </p:txBody>
      </p:sp>
      <p:sp>
        <p:nvSpPr>
          <p:cNvPr id="18" name="Text 16"/>
          <p:cNvSpPr/>
          <p:nvPr/>
        </p:nvSpPr>
        <p:spPr>
          <a:xfrm>
            <a:off x="5897880" y="3172968"/>
            <a:ext cx="5422392" cy="27432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Cross-border invoicing under §3a UStG</a:t>
            </a:r>
            <a:endParaRPr lang="en-US" sz="1400" dirty="0"/>
          </a:p>
        </p:txBody>
      </p:sp>
      <p:sp>
        <p:nvSpPr>
          <p:cNvPr id="19" name="Text 17"/>
          <p:cNvSpPr/>
          <p:nvPr/>
        </p:nvSpPr>
        <p:spPr>
          <a:xfrm>
            <a:off x="5897880" y="3429000"/>
            <a:ext cx="5422392" cy="201168"/>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12 replies · 3h</a:t>
            </a:r>
            <a:endParaRPr lang="en-US" sz="1000" dirty="0"/>
          </a:p>
        </p:txBody>
      </p:sp>
      <p:sp>
        <p:nvSpPr>
          <p:cNvPr id="20" name="Shape 18"/>
          <p:cNvSpPr/>
          <p:nvPr/>
        </p:nvSpPr>
        <p:spPr>
          <a:xfrm>
            <a:off x="5715000" y="3630168"/>
            <a:ext cx="5879592" cy="676656"/>
          </a:xfrm>
          <a:prstGeom prst="rect">
            <a:avLst/>
          </a:prstGeom>
          <a:solidFill>
            <a:srgbClr val="1E2761"/>
          </a:solidFill>
          <a:ln w="12700">
            <a:solidFill>
              <a:srgbClr val="2A3878"/>
            </a:solidFill>
            <a:prstDash val="solid"/>
          </a:ln>
        </p:spPr>
        <p:txBody>
          <a:bodyPr/>
          <a:lstStyle/>
          <a:p>
            <a:endParaRPr lang="de-DE"/>
          </a:p>
        </p:txBody>
      </p:sp>
      <p:sp>
        <p:nvSpPr>
          <p:cNvPr id="21" name="Text 19"/>
          <p:cNvSpPr/>
          <p:nvPr/>
        </p:nvSpPr>
        <p:spPr>
          <a:xfrm>
            <a:off x="5897880" y="3721608"/>
            <a:ext cx="2286000" cy="228600"/>
          </a:xfrm>
          <a:prstGeom prst="rect">
            <a:avLst/>
          </a:prstGeom>
          <a:noFill/>
          <a:ln/>
        </p:spPr>
        <p:txBody>
          <a:bodyPr wrap="square" lIns="0" tIns="0" rIns="0" bIns="0" rtlCol="0" anchor="ctr"/>
          <a:lstStyle/>
          <a:p>
            <a:pPr marL="0" indent="0">
              <a:buNone/>
            </a:pPr>
            <a:r>
              <a:rPr lang="en-US" sz="1000" b="1" kern="0" spc="200" dirty="0">
                <a:solidFill>
                  <a:srgbClr val="F59E0B"/>
                </a:solidFill>
                <a:latin typeface="Calibri" pitchFamily="34" charset="0"/>
                <a:ea typeface="Calibri" pitchFamily="34" charset="-122"/>
                <a:cs typeface="Calibri" pitchFamily="34" charset="-120"/>
              </a:rPr>
              <a:t>LAW · OPEN</a:t>
            </a:r>
            <a:endParaRPr lang="en-US" sz="1000" dirty="0"/>
          </a:p>
        </p:txBody>
      </p:sp>
      <p:sp>
        <p:nvSpPr>
          <p:cNvPr id="22" name="Text 20"/>
          <p:cNvSpPr/>
          <p:nvPr/>
        </p:nvSpPr>
        <p:spPr>
          <a:xfrm>
            <a:off x="5897880" y="3922776"/>
            <a:ext cx="5422392" cy="27432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GDPR Art. 17 in archival workflows</a:t>
            </a:r>
            <a:endParaRPr lang="en-US" sz="1400" dirty="0"/>
          </a:p>
        </p:txBody>
      </p:sp>
      <p:sp>
        <p:nvSpPr>
          <p:cNvPr id="23" name="Text 21"/>
          <p:cNvSpPr/>
          <p:nvPr/>
        </p:nvSpPr>
        <p:spPr>
          <a:xfrm>
            <a:off x="5897880" y="4178808"/>
            <a:ext cx="5422392" cy="201168"/>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5 replies · 1d</a:t>
            </a:r>
            <a:endParaRPr lang="en-US" sz="1000" dirty="0"/>
          </a:p>
        </p:txBody>
      </p:sp>
      <p:sp>
        <p:nvSpPr>
          <p:cNvPr id="24" name="Shape 22"/>
          <p:cNvSpPr/>
          <p:nvPr/>
        </p:nvSpPr>
        <p:spPr>
          <a:xfrm>
            <a:off x="5715000" y="4379976"/>
            <a:ext cx="5879592" cy="676656"/>
          </a:xfrm>
          <a:prstGeom prst="rect">
            <a:avLst/>
          </a:prstGeom>
          <a:solidFill>
            <a:srgbClr val="1E2761"/>
          </a:solidFill>
          <a:ln w="12700">
            <a:solidFill>
              <a:srgbClr val="2A3878"/>
            </a:solidFill>
            <a:prstDash val="solid"/>
          </a:ln>
        </p:spPr>
        <p:txBody>
          <a:bodyPr/>
          <a:lstStyle/>
          <a:p>
            <a:endParaRPr lang="de-DE"/>
          </a:p>
        </p:txBody>
      </p:sp>
      <p:sp>
        <p:nvSpPr>
          <p:cNvPr id="25" name="Text 23"/>
          <p:cNvSpPr/>
          <p:nvPr/>
        </p:nvSpPr>
        <p:spPr>
          <a:xfrm>
            <a:off x="5897880" y="4471416"/>
            <a:ext cx="2286000" cy="228600"/>
          </a:xfrm>
          <a:prstGeom prst="rect">
            <a:avLst/>
          </a:prstGeom>
          <a:noFill/>
          <a:ln/>
        </p:spPr>
        <p:txBody>
          <a:bodyPr wrap="square" lIns="0" tIns="0" rIns="0" bIns="0" rtlCol="0" anchor="ctr"/>
          <a:lstStyle/>
          <a:p>
            <a:pPr marL="0" indent="0">
              <a:buNone/>
            </a:pPr>
            <a:r>
              <a:rPr lang="en-US" sz="1000" b="1" kern="0" spc="200" dirty="0">
                <a:solidFill>
                  <a:srgbClr val="F59E0B"/>
                </a:solidFill>
                <a:latin typeface="Calibri" pitchFamily="34" charset="0"/>
                <a:ea typeface="Calibri" pitchFamily="34" charset="-122"/>
                <a:cs typeface="Calibri" pitchFamily="34" charset="-120"/>
              </a:rPr>
              <a:t>HEALTH · OPEN</a:t>
            </a:r>
            <a:endParaRPr lang="en-US" sz="1000" dirty="0"/>
          </a:p>
        </p:txBody>
      </p:sp>
      <p:sp>
        <p:nvSpPr>
          <p:cNvPr id="26" name="Text 24"/>
          <p:cNvSpPr/>
          <p:nvPr/>
        </p:nvSpPr>
        <p:spPr>
          <a:xfrm>
            <a:off x="5897880" y="4672584"/>
            <a:ext cx="5422392" cy="27432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Anonymizing referral letters at scale</a:t>
            </a:r>
            <a:endParaRPr lang="en-US" sz="1400" dirty="0"/>
          </a:p>
        </p:txBody>
      </p:sp>
      <p:sp>
        <p:nvSpPr>
          <p:cNvPr id="27" name="Text 25"/>
          <p:cNvSpPr/>
          <p:nvPr/>
        </p:nvSpPr>
        <p:spPr>
          <a:xfrm>
            <a:off x="5897880" y="4928616"/>
            <a:ext cx="5422392" cy="201168"/>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9 replies · 2d</a:t>
            </a:r>
            <a:endParaRPr lang="en-US" sz="1000" dirty="0"/>
          </a:p>
        </p:txBody>
      </p:sp>
      <p:sp>
        <p:nvSpPr>
          <p:cNvPr id="28" name="Shape 26"/>
          <p:cNvSpPr/>
          <p:nvPr/>
        </p:nvSpPr>
        <p:spPr>
          <a:xfrm>
            <a:off x="5715000" y="5129784"/>
            <a:ext cx="5879592" cy="676656"/>
          </a:xfrm>
          <a:prstGeom prst="rect">
            <a:avLst/>
          </a:prstGeom>
          <a:solidFill>
            <a:srgbClr val="1E2761"/>
          </a:solidFill>
          <a:ln w="12700">
            <a:solidFill>
              <a:srgbClr val="2A3878"/>
            </a:solidFill>
            <a:prstDash val="solid"/>
          </a:ln>
        </p:spPr>
        <p:txBody>
          <a:bodyPr/>
          <a:lstStyle/>
          <a:p>
            <a:endParaRPr lang="de-DE"/>
          </a:p>
        </p:txBody>
      </p:sp>
      <p:sp>
        <p:nvSpPr>
          <p:cNvPr id="29" name="Text 27"/>
          <p:cNvSpPr/>
          <p:nvPr/>
        </p:nvSpPr>
        <p:spPr>
          <a:xfrm>
            <a:off x="5897880" y="5221224"/>
            <a:ext cx="2286000" cy="228600"/>
          </a:xfrm>
          <a:prstGeom prst="rect">
            <a:avLst/>
          </a:prstGeom>
          <a:noFill/>
          <a:ln/>
        </p:spPr>
        <p:txBody>
          <a:bodyPr wrap="square" lIns="0" tIns="0" rIns="0" bIns="0" rtlCol="0" anchor="ctr"/>
          <a:lstStyle/>
          <a:p>
            <a:pPr marL="0" indent="0">
              <a:buNone/>
            </a:pPr>
            <a:r>
              <a:rPr lang="en-US" sz="1000" b="1" kern="0" spc="200" dirty="0">
                <a:solidFill>
                  <a:srgbClr val="10B981"/>
                </a:solidFill>
                <a:latin typeface="Calibri" pitchFamily="34" charset="0"/>
                <a:ea typeface="Calibri" pitchFamily="34" charset="-122"/>
                <a:cs typeface="Calibri" pitchFamily="34" charset="-120"/>
              </a:rPr>
              <a:t>BANK · SOLVED</a:t>
            </a:r>
            <a:endParaRPr lang="en-US" sz="1000" dirty="0"/>
          </a:p>
        </p:txBody>
      </p:sp>
      <p:sp>
        <p:nvSpPr>
          <p:cNvPr id="30" name="Text 28"/>
          <p:cNvSpPr/>
          <p:nvPr/>
        </p:nvSpPr>
        <p:spPr>
          <a:xfrm>
            <a:off x="5897880" y="5422392"/>
            <a:ext cx="5422392" cy="27432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PSD2 strong-auth fallback when SMS fails</a:t>
            </a:r>
            <a:endParaRPr lang="en-US" sz="1400" dirty="0"/>
          </a:p>
        </p:txBody>
      </p:sp>
      <p:sp>
        <p:nvSpPr>
          <p:cNvPr id="31" name="Text 29"/>
          <p:cNvSpPr/>
          <p:nvPr/>
        </p:nvSpPr>
        <p:spPr>
          <a:xfrm>
            <a:off x="5897880" y="5678424"/>
            <a:ext cx="5422392" cy="201168"/>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21 replies · 4d</a:t>
            </a:r>
            <a:endParaRPr lang="en-US" sz="1000" dirty="0"/>
          </a:p>
        </p:txBody>
      </p:sp>
      <p:sp>
        <p:nvSpPr>
          <p:cNvPr id="32" name="Text 30"/>
          <p:cNvSpPr/>
          <p:nvPr/>
        </p:nvSpPr>
        <p:spPr>
          <a:xfrm>
            <a:off x="548640" y="6263640"/>
            <a:ext cx="11091672" cy="411480"/>
          </a:xfrm>
          <a:prstGeom prst="rect">
            <a:avLst/>
          </a:prstGeom>
          <a:noFill/>
          <a:ln/>
        </p:spPr>
        <p:txBody>
          <a:bodyPr wrap="square" lIns="0" tIns="0" rIns="0" bIns="0" rtlCol="0" anchor="ctr"/>
          <a:lstStyle/>
          <a:p>
            <a:pPr marL="0" indent="0" algn="ctr">
              <a:buNone/>
            </a:pPr>
            <a:r>
              <a:rPr lang="en-US" sz="1400" b="1" i="1" dirty="0">
                <a:solidFill>
                  <a:srgbClr val="1E2761"/>
                </a:solidFill>
                <a:latin typeface="Calibri" pitchFamily="34" charset="0"/>
                <a:ea typeface="Calibri" pitchFamily="34" charset="-122"/>
                <a:cs typeface="Calibri" pitchFamily="34" charset="-120"/>
              </a:rPr>
              <a:t>The compose modal is the gateway. The original draft never reaches the server.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502920" y="292608"/>
            <a:ext cx="1207008" cy="502920"/>
          </a:xfrm>
          <a:prstGeom prst="rect">
            <a:avLst/>
          </a:prstGeom>
          <a:solidFill>
            <a:srgbClr val="FFFFFF"/>
          </a:solidFill>
          <a:ln/>
        </p:spPr>
        <p:txBody>
          <a:bodyPr/>
          <a:lstStyle/>
          <a:p>
            <a:endParaRPr lang="de-DE"/>
          </a:p>
        </p:txBody>
      </p:sp>
      <p:sp>
        <p:nvSpPr>
          <p:cNvPr id="3" name="Text 1"/>
          <p:cNvSpPr/>
          <p:nvPr/>
        </p:nvSpPr>
        <p:spPr>
          <a:xfrm>
            <a:off x="502920" y="292608"/>
            <a:ext cx="1207008" cy="50292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ch</a:t>
            </a:r>
            <a:r>
              <a:rPr lang="en-US" sz="2200" b="1" dirty="0">
                <a:solidFill>
                  <a:srgbClr val="38BDF8"/>
                </a:solidFill>
                <a:latin typeface="Calibri" pitchFamily="34" charset="0"/>
                <a:ea typeface="Calibri" pitchFamily="34" charset="-122"/>
                <a:cs typeface="Calibri" pitchFamily="34" charset="-120"/>
              </a:rPr>
              <a:t>AI</a:t>
            </a:r>
            <a:r>
              <a:rPr lang="en-US" sz="2200" b="1" dirty="0">
                <a:solidFill>
                  <a:srgbClr val="0F172A"/>
                </a:solidFill>
                <a:latin typeface="Calibri" pitchFamily="34" charset="0"/>
                <a:ea typeface="Calibri" pitchFamily="34" charset="-122"/>
                <a:cs typeface="Calibri" pitchFamily="34" charset="-120"/>
              </a:rPr>
              <a:t>n</a:t>
            </a:r>
            <a:endParaRPr lang="en-US" sz="2200" dirty="0"/>
          </a:p>
        </p:txBody>
      </p:sp>
      <p:sp>
        <p:nvSpPr>
          <p:cNvPr id="4" name="Text 2"/>
          <p:cNvSpPr/>
          <p:nvPr/>
        </p:nvSpPr>
        <p:spPr>
          <a:xfrm>
            <a:off x="548640" y="868680"/>
            <a:ext cx="10972800" cy="640080"/>
          </a:xfrm>
          <a:prstGeom prst="rect">
            <a:avLst/>
          </a:prstGeom>
          <a:noFill/>
          <a:ln/>
        </p:spPr>
        <p:txBody>
          <a:bodyPr wrap="square" lIns="0" tIns="0" rIns="0" bIns="0" rtlCol="0" anchor="ctr"/>
          <a:lstStyle/>
          <a:p>
            <a:pPr marL="0" indent="0">
              <a:buNone/>
            </a:pPr>
            <a:r>
              <a:rPr lang="en-US" sz="4000" b="1" dirty="0">
                <a:solidFill>
                  <a:srgbClr val="0F172A"/>
                </a:solidFill>
                <a:latin typeface="Calibri" pitchFamily="34" charset="0"/>
                <a:ea typeface="Calibri" pitchFamily="34" charset="-122"/>
                <a:cs typeface="Calibri" pitchFamily="34" charset="-120"/>
              </a:rPr>
              <a:t>Why now / why us</a:t>
            </a:r>
            <a:endParaRPr lang="en-US" sz="4000" dirty="0"/>
          </a:p>
        </p:txBody>
      </p:sp>
      <p:sp>
        <p:nvSpPr>
          <p:cNvPr id="5" name="Text 3"/>
          <p:cNvSpPr/>
          <p:nvPr/>
        </p:nvSpPr>
        <p:spPr>
          <a:xfrm>
            <a:off x="548640" y="1508760"/>
            <a:ext cx="10972800" cy="41148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The model class is finally good enough. The boundary is what's been missing.</a:t>
            </a:r>
            <a:endParaRPr lang="en-US" sz="1800" dirty="0"/>
          </a:p>
        </p:txBody>
      </p:sp>
      <p:sp>
        <p:nvSpPr>
          <p:cNvPr id="6" name="Shape 4"/>
          <p:cNvSpPr/>
          <p:nvPr/>
        </p:nvSpPr>
        <p:spPr>
          <a:xfrm>
            <a:off x="548640" y="2331720"/>
            <a:ext cx="5486400" cy="365760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7" name="Shape 5"/>
          <p:cNvSpPr/>
          <p:nvPr/>
        </p:nvSpPr>
        <p:spPr>
          <a:xfrm>
            <a:off x="548640" y="2331720"/>
            <a:ext cx="5486400" cy="73152"/>
          </a:xfrm>
          <a:prstGeom prst="rect">
            <a:avLst/>
          </a:prstGeom>
          <a:solidFill>
            <a:srgbClr val="38BDF8"/>
          </a:solidFill>
          <a:ln/>
        </p:spPr>
        <p:txBody>
          <a:bodyPr/>
          <a:lstStyle/>
          <a:p>
            <a:endParaRPr lang="de-DE"/>
          </a:p>
        </p:txBody>
      </p:sp>
      <p:sp>
        <p:nvSpPr>
          <p:cNvPr id="8" name="Text 6"/>
          <p:cNvSpPr/>
          <p:nvPr/>
        </p:nvSpPr>
        <p:spPr>
          <a:xfrm>
            <a:off x="914400" y="2606040"/>
            <a:ext cx="4754880" cy="274320"/>
          </a:xfrm>
          <a:prstGeom prst="rect">
            <a:avLst/>
          </a:prstGeom>
          <a:noFill/>
          <a:ln/>
        </p:spPr>
        <p:txBody>
          <a:bodyPr wrap="square" lIns="0" tIns="0" rIns="0" bIns="0" rtlCol="0" anchor="ctr"/>
          <a:lstStyle/>
          <a:p>
            <a:pPr marL="0" indent="0">
              <a:buNone/>
            </a:pPr>
            <a:r>
              <a:rPr lang="en-US" sz="1100" b="1" kern="0" spc="400" dirty="0">
                <a:solidFill>
                  <a:srgbClr val="38BDF8"/>
                </a:solidFill>
                <a:latin typeface="Calibri" pitchFamily="34" charset="0"/>
                <a:ea typeface="Calibri" pitchFamily="34" charset="-122"/>
                <a:cs typeface="Calibri" pitchFamily="34" charset="-120"/>
              </a:rPr>
              <a:t>OPTION A · HOSTED</a:t>
            </a:r>
            <a:endParaRPr lang="en-US" sz="1100" dirty="0"/>
          </a:p>
        </p:txBody>
      </p:sp>
      <p:sp>
        <p:nvSpPr>
          <p:cNvPr id="9" name="Text 7"/>
          <p:cNvSpPr/>
          <p:nvPr/>
        </p:nvSpPr>
        <p:spPr>
          <a:xfrm>
            <a:off x="914400" y="2926080"/>
            <a:ext cx="4754880" cy="5029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OpenAI-class provider</a:t>
            </a:r>
            <a:endParaRPr lang="en-US" sz="2200" dirty="0"/>
          </a:p>
        </p:txBody>
      </p:sp>
      <p:sp>
        <p:nvSpPr>
          <p:cNvPr id="10" name="Text 8"/>
          <p:cNvSpPr/>
          <p:nvPr/>
        </p:nvSpPr>
        <p:spPr>
          <a:xfrm>
            <a:off x="914400" y="3429000"/>
            <a:ext cx="4754880" cy="3657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Hosted, frontier quality, fastest path to value.</a:t>
            </a:r>
            <a:endParaRPr lang="en-US" sz="1300" dirty="0"/>
          </a:p>
        </p:txBody>
      </p:sp>
      <p:sp>
        <p:nvSpPr>
          <p:cNvPr id="11" name="Text 9"/>
          <p:cNvSpPr/>
          <p:nvPr/>
        </p:nvSpPr>
        <p:spPr>
          <a:xfrm>
            <a:off x="914400" y="3931920"/>
            <a:ext cx="4754880" cy="201168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Frontier quality, fastest setup</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Same UI, same gateway behavior</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Suitable for most commercial sectors</a:t>
            </a:r>
            <a:endParaRPr lang="en-US" sz="1500" dirty="0"/>
          </a:p>
        </p:txBody>
      </p:sp>
      <p:sp>
        <p:nvSpPr>
          <p:cNvPr id="12" name="Shape 10"/>
          <p:cNvSpPr/>
          <p:nvPr/>
        </p:nvSpPr>
        <p:spPr>
          <a:xfrm>
            <a:off x="6153912" y="2331720"/>
            <a:ext cx="5486400" cy="365760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3" name="Shape 11"/>
          <p:cNvSpPr/>
          <p:nvPr/>
        </p:nvSpPr>
        <p:spPr>
          <a:xfrm>
            <a:off x="6153912" y="2331720"/>
            <a:ext cx="5486400" cy="73152"/>
          </a:xfrm>
          <a:prstGeom prst="rect">
            <a:avLst/>
          </a:prstGeom>
          <a:solidFill>
            <a:srgbClr val="F59E0B"/>
          </a:solidFill>
          <a:ln/>
        </p:spPr>
        <p:txBody>
          <a:bodyPr/>
          <a:lstStyle/>
          <a:p>
            <a:endParaRPr lang="de-DE"/>
          </a:p>
        </p:txBody>
      </p:sp>
      <p:sp>
        <p:nvSpPr>
          <p:cNvPr id="14" name="Text 12"/>
          <p:cNvSpPr/>
          <p:nvPr/>
        </p:nvSpPr>
        <p:spPr>
          <a:xfrm>
            <a:off x="6519672" y="2606040"/>
            <a:ext cx="4754880" cy="27432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OPTION B · LOCAL</a:t>
            </a:r>
            <a:endParaRPr lang="en-US" sz="1100" dirty="0"/>
          </a:p>
        </p:txBody>
      </p:sp>
      <p:sp>
        <p:nvSpPr>
          <p:cNvPr id="15" name="Text 13"/>
          <p:cNvSpPr/>
          <p:nvPr/>
        </p:nvSpPr>
        <p:spPr>
          <a:xfrm>
            <a:off x="6519672" y="2926080"/>
            <a:ext cx="4754880" cy="50292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Kimi K2.6 via Tinker</a:t>
            </a:r>
            <a:endParaRPr lang="en-US" sz="2200" dirty="0"/>
          </a:p>
        </p:txBody>
      </p:sp>
      <p:sp>
        <p:nvSpPr>
          <p:cNvPr id="16" name="Text 14"/>
          <p:cNvSpPr/>
          <p:nvPr/>
        </p:nvSpPr>
        <p:spPr>
          <a:xfrm>
            <a:off x="6519672" y="3429000"/>
            <a:ext cx="4754880" cy="3657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On-prem, sovereign, nothing leaves the customer's edge.</a:t>
            </a:r>
            <a:endParaRPr lang="en-US" sz="1300" dirty="0"/>
          </a:p>
        </p:txBody>
      </p:sp>
      <p:sp>
        <p:nvSpPr>
          <p:cNvPr id="17" name="Text 15"/>
          <p:cNvSpPr/>
          <p:nvPr/>
        </p:nvSpPr>
        <p:spPr>
          <a:xfrm>
            <a:off x="6519672" y="3931920"/>
            <a:ext cx="4754880" cy="201168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Runs on the customer's own server</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No critical text crosses their network edge</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Required for hospitals, government, defense</a:t>
            </a:r>
            <a:endParaRPr lang="en-US" sz="1500" dirty="0"/>
          </a:p>
        </p:txBody>
      </p:sp>
      <p:sp>
        <p:nvSpPr>
          <p:cNvPr id="18" name="Shape 16"/>
          <p:cNvSpPr/>
          <p:nvPr/>
        </p:nvSpPr>
        <p:spPr>
          <a:xfrm>
            <a:off x="548640" y="6172200"/>
            <a:ext cx="11091672" cy="502920"/>
          </a:xfrm>
          <a:prstGeom prst="rect">
            <a:avLst/>
          </a:prstGeom>
          <a:solidFill>
            <a:srgbClr val="1E2761"/>
          </a:solidFill>
          <a:ln/>
        </p:spPr>
        <p:txBody>
          <a:bodyPr/>
          <a:lstStyle/>
          <a:p>
            <a:endParaRPr lang="de-DE"/>
          </a:p>
        </p:txBody>
      </p:sp>
      <p:sp>
        <p:nvSpPr>
          <p:cNvPr id="19" name="Text 17"/>
          <p:cNvSpPr/>
          <p:nvPr/>
        </p:nvSpPr>
        <p:spPr>
          <a:xfrm>
            <a:off x="548640" y="6199632"/>
            <a:ext cx="11091672" cy="457200"/>
          </a:xfrm>
          <a:prstGeom prst="rect">
            <a:avLst/>
          </a:prstGeom>
          <a:noFill/>
          <a:ln/>
        </p:spPr>
        <p:txBody>
          <a:bodyPr wrap="square" lIns="0" tIns="0" rIns="0" bIns="0" rtlCol="0" anchor="ctr"/>
          <a:lstStyle/>
          <a:p>
            <a:pPr marL="0" indent="0" algn="ctr">
              <a:buNone/>
            </a:pPr>
            <a:r>
              <a:rPr lang="en-US" sz="1600" b="1" dirty="0">
                <a:solidFill>
                  <a:srgbClr val="F8FAFC"/>
                </a:solidFill>
                <a:latin typeface="Calibri" pitchFamily="34" charset="0"/>
                <a:ea typeface="Calibri" pitchFamily="34" charset="-122"/>
                <a:cs typeface="Calibri" pitchFamily="34" charset="-120"/>
              </a:rPr>
              <a:t>Two-provider architecture. Same UI. Same gateway. Same boundary.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502920" y="292608"/>
            <a:ext cx="1207008" cy="502920"/>
          </a:xfrm>
          <a:prstGeom prst="rect">
            <a:avLst/>
          </a:prstGeom>
          <a:solidFill>
            <a:srgbClr val="FFFFFF"/>
          </a:solidFill>
          <a:ln/>
        </p:spPr>
        <p:txBody>
          <a:bodyPr/>
          <a:lstStyle/>
          <a:p>
            <a:endParaRPr lang="de-DE"/>
          </a:p>
        </p:txBody>
      </p:sp>
      <p:sp>
        <p:nvSpPr>
          <p:cNvPr id="3" name="Text 1"/>
          <p:cNvSpPr/>
          <p:nvPr/>
        </p:nvSpPr>
        <p:spPr>
          <a:xfrm>
            <a:off x="502920" y="292608"/>
            <a:ext cx="1207008" cy="50292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ch</a:t>
            </a:r>
            <a:r>
              <a:rPr lang="en-US" sz="2200" b="1" dirty="0">
                <a:solidFill>
                  <a:srgbClr val="38BDF8"/>
                </a:solidFill>
                <a:latin typeface="Calibri" pitchFamily="34" charset="0"/>
                <a:ea typeface="Calibri" pitchFamily="34" charset="-122"/>
                <a:cs typeface="Calibri" pitchFamily="34" charset="-120"/>
              </a:rPr>
              <a:t>AI</a:t>
            </a:r>
            <a:r>
              <a:rPr lang="en-US" sz="2200" b="1" dirty="0">
                <a:solidFill>
                  <a:srgbClr val="0F172A"/>
                </a:solidFill>
                <a:latin typeface="Calibri" pitchFamily="34" charset="0"/>
                <a:ea typeface="Calibri" pitchFamily="34" charset="-122"/>
                <a:cs typeface="Calibri" pitchFamily="34" charset="-120"/>
              </a:rPr>
              <a:t>n</a:t>
            </a:r>
            <a:endParaRPr lang="en-US" sz="2200" dirty="0"/>
          </a:p>
        </p:txBody>
      </p:sp>
      <p:sp>
        <p:nvSpPr>
          <p:cNvPr id="4" name="Text 2"/>
          <p:cNvSpPr/>
          <p:nvPr/>
        </p:nvSpPr>
        <p:spPr>
          <a:xfrm>
            <a:off x="548640" y="868680"/>
            <a:ext cx="10972800" cy="640080"/>
          </a:xfrm>
          <a:prstGeom prst="rect">
            <a:avLst/>
          </a:prstGeom>
          <a:noFill/>
          <a:ln/>
        </p:spPr>
        <p:txBody>
          <a:bodyPr wrap="square" lIns="0" tIns="0" rIns="0" bIns="0" rtlCol="0" anchor="ctr"/>
          <a:lstStyle/>
          <a:p>
            <a:pPr marL="0" indent="0">
              <a:buNone/>
            </a:pPr>
            <a:r>
              <a:rPr lang="en-US" sz="4000" b="1" dirty="0">
                <a:solidFill>
                  <a:srgbClr val="0F172A"/>
                </a:solidFill>
                <a:latin typeface="Calibri" pitchFamily="34" charset="0"/>
                <a:ea typeface="Calibri" pitchFamily="34" charset="-122"/>
                <a:cs typeface="Calibri" pitchFamily="34" charset="-120"/>
              </a:rPr>
              <a:t>Local models can win this race.</a:t>
            </a:r>
            <a:endParaRPr lang="en-US" sz="4000" dirty="0"/>
          </a:p>
        </p:txBody>
      </p:sp>
      <p:sp>
        <p:nvSpPr>
          <p:cNvPr id="5" name="Text 3"/>
          <p:cNvSpPr/>
          <p:nvPr/>
        </p:nvSpPr>
        <p:spPr>
          <a:xfrm>
            <a:off x="548640" y="1508760"/>
            <a:ext cx="10972800" cy="41148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A data flywheel that gets sharper the more sensitive the sector.</a:t>
            </a:r>
            <a:endParaRPr lang="en-US" sz="1800" dirty="0"/>
          </a:p>
        </p:txBody>
      </p:sp>
      <p:sp>
        <p:nvSpPr>
          <p:cNvPr id="6" name="Shape 4"/>
          <p:cNvSpPr/>
          <p:nvPr/>
        </p:nvSpPr>
        <p:spPr>
          <a:xfrm>
            <a:off x="548640" y="2331720"/>
            <a:ext cx="3630168" cy="338328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7" name="Shape 5"/>
          <p:cNvSpPr/>
          <p:nvPr/>
        </p:nvSpPr>
        <p:spPr>
          <a:xfrm>
            <a:off x="548640" y="2331720"/>
            <a:ext cx="3630168" cy="73152"/>
          </a:xfrm>
          <a:prstGeom prst="rect">
            <a:avLst/>
          </a:prstGeom>
          <a:solidFill>
            <a:srgbClr val="38BDF8"/>
          </a:solidFill>
          <a:ln/>
        </p:spPr>
        <p:txBody>
          <a:bodyPr/>
          <a:lstStyle/>
          <a:p>
            <a:endParaRPr lang="de-DE"/>
          </a:p>
        </p:txBody>
      </p:sp>
      <p:sp>
        <p:nvSpPr>
          <p:cNvPr id="8" name="Text 6"/>
          <p:cNvSpPr/>
          <p:nvPr/>
        </p:nvSpPr>
        <p:spPr>
          <a:xfrm>
            <a:off x="868680" y="2606040"/>
            <a:ext cx="2990088" cy="320040"/>
          </a:xfrm>
          <a:prstGeom prst="rect">
            <a:avLst/>
          </a:prstGeom>
          <a:noFill/>
          <a:ln/>
        </p:spPr>
        <p:txBody>
          <a:bodyPr wrap="square" lIns="0" tIns="0" rIns="0" bIns="0" rtlCol="0" anchor="ctr"/>
          <a:lstStyle/>
          <a:p>
            <a:pPr marL="0" indent="0">
              <a:buNone/>
            </a:pPr>
            <a:r>
              <a:rPr lang="en-US" sz="1100" b="1" kern="0" spc="400" dirty="0">
                <a:solidFill>
                  <a:srgbClr val="38BDF8"/>
                </a:solidFill>
                <a:latin typeface="Calibri" pitchFamily="34" charset="0"/>
                <a:ea typeface="Calibri" pitchFamily="34" charset="-122"/>
                <a:cs typeface="Calibri" pitchFamily="34" charset="-120"/>
              </a:rPr>
              <a:t>TODAY</a:t>
            </a:r>
            <a:endParaRPr lang="en-US" sz="1100" dirty="0"/>
          </a:p>
        </p:txBody>
      </p:sp>
      <p:sp>
        <p:nvSpPr>
          <p:cNvPr id="9" name="Text 7"/>
          <p:cNvSpPr/>
          <p:nvPr/>
        </p:nvSpPr>
        <p:spPr>
          <a:xfrm>
            <a:off x="868680" y="2971800"/>
            <a:ext cx="2990088" cy="868680"/>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Local already keeps up</a:t>
            </a:r>
            <a:endParaRPr lang="en-US" sz="2000" dirty="0"/>
          </a:p>
        </p:txBody>
      </p:sp>
      <p:sp>
        <p:nvSpPr>
          <p:cNvPr id="10" name="Text 8"/>
          <p:cNvSpPr/>
          <p:nvPr/>
        </p:nvSpPr>
        <p:spPr>
          <a:xfrm>
            <a:off x="868680" y="3931920"/>
            <a:ext cx="2990088" cy="1691640"/>
          </a:xfrm>
          <a:prstGeom prst="rect">
            <a:avLst/>
          </a:prstGeom>
          <a:noFill/>
          <a:ln/>
        </p:spPr>
        <p:txBody>
          <a:bodyPr wrap="square" lIns="0" tIns="0" rIns="0" bIns="0" rtlCol="0" anchor="ctr"/>
          <a:lstStyle/>
          <a:p>
            <a:pPr marL="0" indent="0">
              <a:spcAft>
                <a:spcPts val="400"/>
              </a:spcAft>
              <a:buNone/>
            </a:pPr>
            <a:r>
              <a:rPr lang="en-US" sz="1300" dirty="0">
                <a:solidFill>
                  <a:srgbClr val="64748B"/>
                </a:solidFill>
                <a:latin typeface="Calibri" pitchFamily="34" charset="0"/>
                <a:ea typeface="Calibri" pitchFamily="34" charset="-122"/>
                <a:cs typeface="Calibri" pitchFamily="34" charset="-120"/>
              </a:rPr>
              <a:t>On focused tasks like classification and rewrite, modern open models match frontier quality. The frontier gap on our two core tasks is small.</a:t>
            </a:r>
            <a:endParaRPr lang="en-US" sz="1300" dirty="0"/>
          </a:p>
        </p:txBody>
      </p:sp>
      <p:sp>
        <p:nvSpPr>
          <p:cNvPr id="11" name="Text 9"/>
          <p:cNvSpPr/>
          <p:nvPr/>
        </p:nvSpPr>
        <p:spPr>
          <a:xfrm>
            <a:off x="4183380" y="3703320"/>
            <a:ext cx="146304" cy="548640"/>
          </a:xfrm>
          <a:prstGeom prst="rect">
            <a:avLst/>
          </a:prstGeom>
          <a:noFill/>
          <a:ln/>
        </p:spPr>
        <p:txBody>
          <a:bodyPr wrap="square" lIns="0" tIns="0" rIns="0" bIns="0" rtlCol="0" anchor="ctr"/>
          <a:lstStyle/>
          <a:p>
            <a:pPr marL="0" indent="0" algn="ctr">
              <a:buNone/>
            </a:pPr>
            <a:r>
              <a:rPr lang="en-US" sz="2600" b="1" dirty="0">
                <a:solidFill>
                  <a:srgbClr val="38BDF8"/>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4334256" y="2331720"/>
            <a:ext cx="3630168" cy="338328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3" name="Shape 11"/>
          <p:cNvSpPr/>
          <p:nvPr/>
        </p:nvSpPr>
        <p:spPr>
          <a:xfrm>
            <a:off x="4334256" y="2331720"/>
            <a:ext cx="3630168" cy="73152"/>
          </a:xfrm>
          <a:prstGeom prst="rect">
            <a:avLst/>
          </a:prstGeom>
          <a:solidFill>
            <a:srgbClr val="38BDF8"/>
          </a:solidFill>
          <a:ln/>
        </p:spPr>
        <p:txBody>
          <a:bodyPr/>
          <a:lstStyle/>
          <a:p>
            <a:endParaRPr lang="de-DE"/>
          </a:p>
        </p:txBody>
      </p:sp>
      <p:sp>
        <p:nvSpPr>
          <p:cNvPr id="14" name="Text 12"/>
          <p:cNvSpPr/>
          <p:nvPr/>
        </p:nvSpPr>
        <p:spPr>
          <a:xfrm>
            <a:off x="4654296" y="2606040"/>
            <a:ext cx="2990088" cy="320040"/>
          </a:xfrm>
          <a:prstGeom prst="rect">
            <a:avLst/>
          </a:prstGeom>
          <a:noFill/>
          <a:ln/>
        </p:spPr>
        <p:txBody>
          <a:bodyPr wrap="square" lIns="0" tIns="0" rIns="0" bIns="0" rtlCol="0" anchor="ctr"/>
          <a:lstStyle/>
          <a:p>
            <a:pPr marL="0" indent="0">
              <a:buNone/>
            </a:pPr>
            <a:r>
              <a:rPr lang="en-US" sz="1100" b="1" kern="0" spc="400" dirty="0">
                <a:solidFill>
                  <a:srgbClr val="38BDF8"/>
                </a:solidFill>
                <a:latin typeface="Calibri" pitchFamily="34" charset="0"/>
                <a:ea typeface="Calibri" pitchFamily="34" charset="-122"/>
                <a:cs typeface="Calibri" pitchFamily="34" charset="-120"/>
              </a:rPr>
              <a:t>POST-TRAINING</a:t>
            </a:r>
            <a:endParaRPr lang="en-US" sz="1100" dirty="0"/>
          </a:p>
        </p:txBody>
      </p:sp>
      <p:sp>
        <p:nvSpPr>
          <p:cNvPr id="15" name="Text 13"/>
          <p:cNvSpPr/>
          <p:nvPr/>
        </p:nvSpPr>
        <p:spPr>
          <a:xfrm>
            <a:off x="4654296" y="2971800"/>
            <a:ext cx="2990088" cy="868680"/>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Synthetic data works</a:t>
            </a:r>
            <a:endParaRPr lang="en-US" sz="2000" dirty="0"/>
          </a:p>
        </p:txBody>
      </p:sp>
      <p:sp>
        <p:nvSpPr>
          <p:cNvPr id="16" name="Text 14"/>
          <p:cNvSpPr/>
          <p:nvPr/>
        </p:nvSpPr>
        <p:spPr>
          <a:xfrm>
            <a:off x="4654296" y="3931920"/>
            <a:ext cx="2990088" cy="1691640"/>
          </a:xfrm>
          <a:prstGeom prst="rect">
            <a:avLst/>
          </a:prstGeom>
          <a:noFill/>
          <a:ln/>
        </p:spPr>
        <p:txBody>
          <a:bodyPr wrap="square" lIns="0" tIns="0" rIns="0" bIns="0" rtlCol="0" anchor="ctr"/>
          <a:lstStyle/>
          <a:p>
            <a:pPr marL="0" indent="0">
              <a:spcAft>
                <a:spcPts val="400"/>
              </a:spcAft>
              <a:buNone/>
            </a:pPr>
            <a:r>
              <a:rPr lang="en-US" sz="1300" dirty="0">
                <a:solidFill>
                  <a:srgbClr val="64748B"/>
                </a:solidFill>
                <a:latin typeface="Calibri" pitchFamily="34" charset="0"/>
                <a:ea typeface="Calibri" pitchFamily="34" charset="-122"/>
                <a:cs typeface="Calibri" pitchFamily="34" charset="-120"/>
              </a:rPr>
              <a:t>We've already fine-tuned on synthetically generated regulated-text examples and observed clear, repeatable gains in span detection and rewrite faithfulness.</a:t>
            </a:r>
            <a:endParaRPr lang="en-US" sz="1300" dirty="0"/>
          </a:p>
        </p:txBody>
      </p:sp>
      <p:sp>
        <p:nvSpPr>
          <p:cNvPr id="17" name="Text 15"/>
          <p:cNvSpPr/>
          <p:nvPr/>
        </p:nvSpPr>
        <p:spPr>
          <a:xfrm>
            <a:off x="7968996" y="3703320"/>
            <a:ext cx="146304" cy="548640"/>
          </a:xfrm>
          <a:prstGeom prst="rect">
            <a:avLst/>
          </a:prstGeom>
          <a:noFill/>
          <a:ln/>
        </p:spPr>
        <p:txBody>
          <a:bodyPr wrap="square" lIns="0" tIns="0" rIns="0" bIns="0" rtlCol="0" anchor="ctr"/>
          <a:lstStyle/>
          <a:p>
            <a:pPr marL="0" indent="0" algn="ctr">
              <a:buNone/>
            </a:pPr>
            <a:r>
              <a:rPr lang="en-US" sz="2600" b="1" dirty="0">
                <a:solidFill>
                  <a:srgbClr val="38BDF8"/>
                </a:solidFill>
                <a:latin typeface="Calibri" pitchFamily="34" charset="0"/>
                <a:ea typeface="Calibri" pitchFamily="34" charset="-122"/>
                <a:cs typeface="Calibri" pitchFamily="34" charset="-120"/>
              </a:rPr>
              <a:t>→</a:t>
            </a:r>
            <a:endParaRPr lang="en-US" sz="2600" dirty="0"/>
          </a:p>
        </p:txBody>
      </p:sp>
      <p:sp>
        <p:nvSpPr>
          <p:cNvPr id="18" name="Shape 16"/>
          <p:cNvSpPr/>
          <p:nvPr/>
        </p:nvSpPr>
        <p:spPr>
          <a:xfrm>
            <a:off x="8119872" y="2331720"/>
            <a:ext cx="3630168" cy="338328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9" name="Shape 17"/>
          <p:cNvSpPr/>
          <p:nvPr/>
        </p:nvSpPr>
        <p:spPr>
          <a:xfrm>
            <a:off x="8119872" y="2331720"/>
            <a:ext cx="3630168" cy="73152"/>
          </a:xfrm>
          <a:prstGeom prst="rect">
            <a:avLst/>
          </a:prstGeom>
          <a:solidFill>
            <a:srgbClr val="F59E0B"/>
          </a:solidFill>
          <a:ln/>
        </p:spPr>
        <p:txBody>
          <a:bodyPr/>
          <a:lstStyle/>
          <a:p>
            <a:endParaRPr lang="de-DE"/>
          </a:p>
        </p:txBody>
      </p:sp>
      <p:sp>
        <p:nvSpPr>
          <p:cNvPr id="20" name="Text 18"/>
          <p:cNvSpPr/>
          <p:nvPr/>
        </p:nvSpPr>
        <p:spPr>
          <a:xfrm>
            <a:off x="8439912" y="2606040"/>
            <a:ext cx="2990088" cy="320040"/>
          </a:xfrm>
          <a:prstGeom prst="rect">
            <a:avLst/>
          </a:prstGeom>
          <a:noFill/>
          <a:ln/>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PARTNERSHIPS</a:t>
            </a:r>
            <a:endParaRPr lang="en-US" sz="1100" dirty="0"/>
          </a:p>
        </p:txBody>
      </p:sp>
      <p:sp>
        <p:nvSpPr>
          <p:cNvPr id="21" name="Text 19"/>
          <p:cNvSpPr/>
          <p:nvPr/>
        </p:nvSpPr>
        <p:spPr>
          <a:xfrm>
            <a:off x="8439912" y="2971800"/>
            <a:ext cx="2990088" cy="868680"/>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Sector data closes it</a:t>
            </a:r>
            <a:endParaRPr lang="en-US" sz="2000" dirty="0"/>
          </a:p>
        </p:txBody>
      </p:sp>
      <p:sp>
        <p:nvSpPr>
          <p:cNvPr id="22" name="Text 20"/>
          <p:cNvSpPr/>
          <p:nvPr/>
        </p:nvSpPr>
        <p:spPr>
          <a:xfrm>
            <a:off x="8439912" y="3931920"/>
            <a:ext cx="2990088" cy="1691640"/>
          </a:xfrm>
          <a:prstGeom prst="rect">
            <a:avLst/>
          </a:prstGeom>
          <a:noFill/>
          <a:ln/>
        </p:spPr>
        <p:txBody>
          <a:bodyPr wrap="square" lIns="0" tIns="0" rIns="0" bIns="0" rtlCol="0" anchor="ctr"/>
          <a:lstStyle/>
          <a:p>
            <a:pPr marL="0" indent="0">
              <a:spcAft>
                <a:spcPts val="400"/>
              </a:spcAft>
              <a:buNone/>
            </a:pPr>
            <a:r>
              <a:rPr lang="en-US" sz="1300" dirty="0">
                <a:solidFill>
                  <a:srgbClr val="64748B"/>
                </a:solidFill>
                <a:latin typeface="Calibri" pitchFamily="34" charset="0"/>
                <a:ea typeface="Calibri" pitchFamily="34" charset="-122"/>
                <a:cs typeface="Calibri" pitchFamily="34" charset="-120"/>
              </a:rPr>
              <a:t>Working with accounting, legal, banking, health and public-sector partners, real (gateway-cleaned) communication feeds post-training. Local models then outperform frontier on classification and rewrite.</a:t>
            </a:r>
            <a:endParaRPr lang="en-US" sz="1300" dirty="0"/>
          </a:p>
        </p:txBody>
      </p:sp>
      <p:sp>
        <p:nvSpPr>
          <p:cNvPr id="23" name="Shape 21"/>
          <p:cNvSpPr/>
          <p:nvPr/>
        </p:nvSpPr>
        <p:spPr>
          <a:xfrm>
            <a:off x="548640" y="5989320"/>
            <a:ext cx="11091672" cy="640080"/>
          </a:xfrm>
          <a:prstGeom prst="rect">
            <a:avLst/>
          </a:prstGeom>
          <a:solidFill>
            <a:srgbClr val="1E2761"/>
          </a:solidFill>
          <a:ln/>
        </p:spPr>
        <p:txBody>
          <a:bodyPr/>
          <a:lstStyle/>
          <a:p>
            <a:endParaRPr lang="de-DE"/>
          </a:p>
        </p:txBody>
      </p:sp>
      <p:sp>
        <p:nvSpPr>
          <p:cNvPr id="24" name="Text 22"/>
          <p:cNvSpPr/>
          <p:nvPr/>
        </p:nvSpPr>
        <p:spPr>
          <a:xfrm>
            <a:off x="548640" y="6016752"/>
            <a:ext cx="11091672" cy="594360"/>
          </a:xfrm>
          <a:prstGeom prst="rect">
            <a:avLst/>
          </a:prstGeom>
          <a:noFill/>
          <a:ln/>
        </p:spPr>
        <p:txBody>
          <a:bodyPr wrap="square" lIns="0" tIns="0" rIns="0" bIns="0" rtlCol="0" anchor="ctr"/>
          <a:lstStyle/>
          <a:p>
            <a:pPr marL="0" indent="0" algn="ctr">
              <a:buNone/>
            </a:pPr>
            <a:r>
              <a:rPr lang="en-US" sz="1800" b="1" dirty="0">
                <a:solidFill>
                  <a:srgbClr val="F8FAFC"/>
                </a:solidFill>
                <a:latin typeface="Calibri" pitchFamily="34" charset="0"/>
                <a:ea typeface="Calibri" pitchFamily="34" charset="-122"/>
                <a:cs typeface="Calibri" pitchFamily="34" charset="-120"/>
              </a:rPr>
              <a:t>The harder the privacy constraint, </a:t>
            </a:r>
            <a:r>
              <a:rPr lang="en-US" sz="1800" b="1" dirty="0">
                <a:solidFill>
                  <a:srgbClr val="38BDF8"/>
                </a:solidFill>
                <a:latin typeface="Calibri" pitchFamily="34" charset="0"/>
                <a:ea typeface="Calibri" pitchFamily="34" charset="-122"/>
                <a:cs typeface="Calibri" pitchFamily="34" charset="-120"/>
              </a:rPr>
              <a:t>the better our model gets.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502920" y="292608"/>
            <a:ext cx="1207008" cy="502920"/>
          </a:xfrm>
          <a:prstGeom prst="rect">
            <a:avLst/>
          </a:prstGeom>
          <a:solidFill>
            <a:srgbClr val="FFFFFF"/>
          </a:solidFill>
          <a:ln/>
        </p:spPr>
        <p:txBody>
          <a:bodyPr/>
          <a:lstStyle/>
          <a:p>
            <a:endParaRPr lang="de-DE"/>
          </a:p>
        </p:txBody>
      </p:sp>
      <p:sp>
        <p:nvSpPr>
          <p:cNvPr id="3" name="Text 1"/>
          <p:cNvSpPr/>
          <p:nvPr/>
        </p:nvSpPr>
        <p:spPr>
          <a:xfrm>
            <a:off x="502920" y="292608"/>
            <a:ext cx="1207008" cy="50292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ch</a:t>
            </a:r>
            <a:r>
              <a:rPr lang="en-US" sz="2200" b="1" dirty="0">
                <a:solidFill>
                  <a:srgbClr val="38BDF8"/>
                </a:solidFill>
                <a:latin typeface="Calibri" pitchFamily="34" charset="0"/>
                <a:ea typeface="Calibri" pitchFamily="34" charset="-122"/>
                <a:cs typeface="Calibri" pitchFamily="34" charset="-120"/>
              </a:rPr>
              <a:t>AI</a:t>
            </a:r>
            <a:r>
              <a:rPr lang="en-US" sz="2200" b="1" dirty="0">
                <a:solidFill>
                  <a:srgbClr val="0F172A"/>
                </a:solidFill>
                <a:latin typeface="Calibri" pitchFamily="34" charset="0"/>
                <a:ea typeface="Calibri" pitchFamily="34" charset="-122"/>
                <a:cs typeface="Calibri" pitchFamily="34" charset="-120"/>
              </a:rPr>
              <a:t>n</a:t>
            </a:r>
            <a:endParaRPr lang="en-US" sz="2200" dirty="0"/>
          </a:p>
        </p:txBody>
      </p:sp>
      <p:sp>
        <p:nvSpPr>
          <p:cNvPr id="4" name="Text 2"/>
          <p:cNvSpPr/>
          <p:nvPr/>
        </p:nvSpPr>
        <p:spPr>
          <a:xfrm>
            <a:off x="548640" y="868680"/>
            <a:ext cx="10972800" cy="640080"/>
          </a:xfrm>
          <a:prstGeom prst="rect">
            <a:avLst/>
          </a:prstGeom>
          <a:noFill/>
          <a:ln/>
        </p:spPr>
        <p:txBody>
          <a:bodyPr wrap="square" lIns="0" tIns="0" rIns="0" bIns="0" rtlCol="0" anchor="ctr"/>
          <a:lstStyle/>
          <a:p>
            <a:pPr marL="0" indent="0">
              <a:buNone/>
            </a:pPr>
            <a:r>
              <a:rPr lang="en-US" sz="4000" b="1" dirty="0">
                <a:solidFill>
                  <a:srgbClr val="0F172A"/>
                </a:solidFill>
                <a:latin typeface="Calibri" pitchFamily="34" charset="0"/>
                <a:ea typeface="Calibri" pitchFamily="34" charset="-122"/>
                <a:cs typeface="Calibri" pitchFamily="34" charset="-120"/>
              </a:rPr>
              <a:t>Who we are.</a:t>
            </a:r>
            <a:endParaRPr lang="en-US" sz="4000" dirty="0"/>
          </a:p>
        </p:txBody>
      </p:sp>
      <p:sp>
        <p:nvSpPr>
          <p:cNvPr id="5" name="Text 3"/>
          <p:cNvSpPr/>
          <p:nvPr/>
        </p:nvSpPr>
        <p:spPr>
          <a:xfrm>
            <a:off x="548640" y="1508760"/>
            <a:ext cx="10972800" cy="41148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Three people building the privacy layer for regulated work.</a:t>
            </a:r>
            <a:endParaRPr lang="en-US" sz="1800" dirty="0"/>
          </a:p>
        </p:txBody>
      </p:sp>
      <p:sp>
        <p:nvSpPr>
          <p:cNvPr id="6" name="Shape 4"/>
          <p:cNvSpPr/>
          <p:nvPr/>
        </p:nvSpPr>
        <p:spPr>
          <a:xfrm>
            <a:off x="1386688" y="2423160"/>
            <a:ext cx="2834640" cy="374904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7" name="Shape 5"/>
          <p:cNvSpPr/>
          <p:nvPr/>
        </p:nvSpPr>
        <p:spPr>
          <a:xfrm>
            <a:off x="1615288" y="2651760"/>
            <a:ext cx="2377440" cy="2377440"/>
          </a:xfrm>
          <a:prstGeom prst="rect">
            <a:avLst/>
          </a:prstGeom>
          <a:solidFill>
            <a:srgbClr val="F7F8FC"/>
          </a:solidFill>
          <a:ln w="12700">
            <a:solidFill>
              <a:srgbClr val="64748B"/>
            </a:solidFill>
            <a:prstDash val="dash"/>
          </a:ln>
        </p:spPr>
        <p:txBody>
          <a:bodyPr/>
          <a:lstStyle/>
          <a:p>
            <a:endParaRPr lang="de-DE"/>
          </a:p>
        </p:txBody>
      </p:sp>
      <p:sp>
        <p:nvSpPr>
          <p:cNvPr id="8" name="Text 6"/>
          <p:cNvSpPr/>
          <p:nvPr/>
        </p:nvSpPr>
        <p:spPr>
          <a:xfrm>
            <a:off x="1615288" y="3611880"/>
            <a:ext cx="2377440" cy="320040"/>
          </a:xfrm>
          <a:prstGeom prst="rect">
            <a:avLst/>
          </a:prstGeom>
          <a:noFill/>
          <a:ln/>
        </p:spPr>
        <p:txBody>
          <a:bodyPr wrap="square" lIns="0" tIns="0" rIns="0" bIns="0" rtlCol="0" anchor="ctr"/>
          <a:lstStyle/>
          <a:p>
            <a:pPr marL="0" indent="0" algn="ctr">
              <a:buNone/>
            </a:pPr>
            <a:r>
              <a:rPr lang="en-US" sz="1200" b="1" kern="0" spc="400" dirty="0">
                <a:solidFill>
                  <a:srgbClr val="64748B"/>
                </a:solidFill>
                <a:latin typeface="Calibri" pitchFamily="34" charset="0"/>
                <a:ea typeface="Calibri" pitchFamily="34" charset="-122"/>
                <a:cs typeface="Calibri" pitchFamily="34" charset="-120"/>
              </a:rPr>
              <a:t>PHOTO</a:t>
            </a:r>
            <a:endParaRPr lang="en-US" sz="1200" dirty="0"/>
          </a:p>
        </p:txBody>
      </p:sp>
      <p:sp>
        <p:nvSpPr>
          <p:cNvPr id="9" name="Text 7"/>
          <p:cNvSpPr/>
          <p:nvPr/>
        </p:nvSpPr>
        <p:spPr>
          <a:xfrm>
            <a:off x="1615288" y="3931920"/>
            <a:ext cx="2377440" cy="274320"/>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(insert square photo)</a:t>
            </a:r>
            <a:endParaRPr lang="en-US" sz="900" dirty="0"/>
          </a:p>
        </p:txBody>
      </p:sp>
      <p:sp>
        <p:nvSpPr>
          <p:cNvPr id="10" name="Text 8"/>
          <p:cNvSpPr/>
          <p:nvPr/>
        </p:nvSpPr>
        <p:spPr>
          <a:xfrm>
            <a:off x="1386688" y="5212080"/>
            <a:ext cx="2834640" cy="45720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Fritz Kuermayr</a:t>
            </a:r>
            <a:endParaRPr lang="en-US" sz="2200" dirty="0"/>
          </a:p>
        </p:txBody>
      </p:sp>
      <p:sp>
        <p:nvSpPr>
          <p:cNvPr id="11" name="Shape 9"/>
          <p:cNvSpPr/>
          <p:nvPr/>
        </p:nvSpPr>
        <p:spPr>
          <a:xfrm>
            <a:off x="2575408" y="5742432"/>
            <a:ext cx="457200" cy="36576"/>
          </a:xfrm>
          <a:prstGeom prst="rect">
            <a:avLst/>
          </a:prstGeom>
          <a:solidFill>
            <a:srgbClr val="38BDF8"/>
          </a:solidFill>
          <a:ln/>
        </p:spPr>
        <p:txBody>
          <a:bodyPr/>
          <a:lstStyle/>
          <a:p>
            <a:endParaRPr lang="de-DE"/>
          </a:p>
        </p:txBody>
      </p:sp>
      <p:sp>
        <p:nvSpPr>
          <p:cNvPr id="12" name="Shape 10"/>
          <p:cNvSpPr/>
          <p:nvPr/>
        </p:nvSpPr>
        <p:spPr>
          <a:xfrm>
            <a:off x="4678528" y="2423160"/>
            <a:ext cx="2834640" cy="374904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3" name="Shape 11"/>
          <p:cNvSpPr/>
          <p:nvPr/>
        </p:nvSpPr>
        <p:spPr>
          <a:xfrm>
            <a:off x="4907128" y="2651760"/>
            <a:ext cx="2377440" cy="2377440"/>
          </a:xfrm>
          <a:prstGeom prst="rect">
            <a:avLst/>
          </a:prstGeom>
          <a:solidFill>
            <a:srgbClr val="F7F8FC"/>
          </a:solidFill>
          <a:ln w="12700">
            <a:solidFill>
              <a:srgbClr val="64748B"/>
            </a:solidFill>
            <a:prstDash val="dash"/>
          </a:ln>
        </p:spPr>
        <p:txBody>
          <a:bodyPr/>
          <a:lstStyle/>
          <a:p>
            <a:endParaRPr lang="de-DE"/>
          </a:p>
        </p:txBody>
      </p:sp>
      <p:sp>
        <p:nvSpPr>
          <p:cNvPr id="14" name="Text 12"/>
          <p:cNvSpPr/>
          <p:nvPr/>
        </p:nvSpPr>
        <p:spPr>
          <a:xfrm>
            <a:off x="4907128" y="3611880"/>
            <a:ext cx="2377440" cy="320040"/>
          </a:xfrm>
          <a:prstGeom prst="rect">
            <a:avLst/>
          </a:prstGeom>
          <a:noFill/>
          <a:ln/>
        </p:spPr>
        <p:txBody>
          <a:bodyPr wrap="square" lIns="0" tIns="0" rIns="0" bIns="0" rtlCol="0" anchor="ctr"/>
          <a:lstStyle/>
          <a:p>
            <a:pPr marL="0" indent="0" algn="ctr">
              <a:buNone/>
            </a:pPr>
            <a:r>
              <a:rPr lang="en-US" sz="1200" b="1" kern="0" spc="400" dirty="0">
                <a:solidFill>
                  <a:srgbClr val="64748B"/>
                </a:solidFill>
                <a:latin typeface="Calibri" pitchFamily="34" charset="0"/>
                <a:ea typeface="Calibri" pitchFamily="34" charset="-122"/>
                <a:cs typeface="Calibri" pitchFamily="34" charset="-120"/>
              </a:rPr>
              <a:t>PHOTO</a:t>
            </a:r>
            <a:endParaRPr lang="en-US" sz="1200" dirty="0"/>
          </a:p>
        </p:txBody>
      </p:sp>
      <p:sp>
        <p:nvSpPr>
          <p:cNvPr id="15" name="Text 13"/>
          <p:cNvSpPr/>
          <p:nvPr/>
        </p:nvSpPr>
        <p:spPr>
          <a:xfrm>
            <a:off x="4907128" y="3931920"/>
            <a:ext cx="2377440" cy="274320"/>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(insert square photo)</a:t>
            </a:r>
            <a:endParaRPr lang="en-US" sz="900" dirty="0"/>
          </a:p>
        </p:txBody>
      </p:sp>
      <p:sp>
        <p:nvSpPr>
          <p:cNvPr id="16" name="Text 14"/>
          <p:cNvSpPr/>
          <p:nvPr/>
        </p:nvSpPr>
        <p:spPr>
          <a:xfrm>
            <a:off x="4678528" y="5212080"/>
            <a:ext cx="2834640" cy="45720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Aaron</a:t>
            </a:r>
            <a:endParaRPr lang="en-US" sz="2200" dirty="0"/>
          </a:p>
        </p:txBody>
      </p:sp>
      <p:sp>
        <p:nvSpPr>
          <p:cNvPr id="17" name="Shape 15"/>
          <p:cNvSpPr/>
          <p:nvPr/>
        </p:nvSpPr>
        <p:spPr>
          <a:xfrm>
            <a:off x="5867248" y="5742432"/>
            <a:ext cx="457200" cy="36576"/>
          </a:xfrm>
          <a:prstGeom prst="rect">
            <a:avLst/>
          </a:prstGeom>
          <a:solidFill>
            <a:srgbClr val="38BDF8"/>
          </a:solidFill>
          <a:ln/>
        </p:spPr>
        <p:txBody>
          <a:bodyPr/>
          <a:lstStyle/>
          <a:p>
            <a:endParaRPr lang="de-DE"/>
          </a:p>
        </p:txBody>
      </p:sp>
      <p:sp>
        <p:nvSpPr>
          <p:cNvPr id="18" name="Shape 16"/>
          <p:cNvSpPr/>
          <p:nvPr/>
        </p:nvSpPr>
        <p:spPr>
          <a:xfrm>
            <a:off x="7970368" y="2423160"/>
            <a:ext cx="2834640" cy="3749040"/>
          </a:xfrm>
          <a:prstGeom prst="rect">
            <a:avLst/>
          </a:prstGeom>
          <a:solidFill>
            <a:srgbClr val="FFFFFF"/>
          </a:solidFill>
          <a:ln w="12700">
            <a:solidFill>
              <a:srgbClr val="E2E8F0"/>
            </a:solidFill>
            <a:prstDash val="solid"/>
          </a:ln>
          <a:effectLst>
            <a:outerShdw blurRad="228600" dist="38100" dir="5400000" algn="bl" rotWithShape="0">
              <a:srgbClr val="000000">
                <a:alpha val="10000"/>
              </a:srgbClr>
            </a:outerShdw>
          </a:effectLst>
        </p:spPr>
        <p:txBody>
          <a:bodyPr/>
          <a:lstStyle/>
          <a:p>
            <a:endParaRPr lang="de-DE"/>
          </a:p>
        </p:txBody>
      </p:sp>
      <p:sp>
        <p:nvSpPr>
          <p:cNvPr id="19" name="Shape 17"/>
          <p:cNvSpPr/>
          <p:nvPr/>
        </p:nvSpPr>
        <p:spPr>
          <a:xfrm>
            <a:off x="8198968" y="2651760"/>
            <a:ext cx="2377440" cy="2377440"/>
          </a:xfrm>
          <a:prstGeom prst="rect">
            <a:avLst/>
          </a:prstGeom>
          <a:solidFill>
            <a:srgbClr val="F7F8FC"/>
          </a:solidFill>
          <a:ln w="12700">
            <a:solidFill>
              <a:srgbClr val="64748B"/>
            </a:solidFill>
            <a:prstDash val="dash"/>
          </a:ln>
        </p:spPr>
        <p:txBody>
          <a:bodyPr/>
          <a:lstStyle/>
          <a:p>
            <a:endParaRPr lang="de-DE"/>
          </a:p>
        </p:txBody>
      </p:sp>
      <p:sp>
        <p:nvSpPr>
          <p:cNvPr id="20" name="Text 18"/>
          <p:cNvSpPr/>
          <p:nvPr/>
        </p:nvSpPr>
        <p:spPr>
          <a:xfrm>
            <a:off x="8198968" y="3611880"/>
            <a:ext cx="2377440" cy="320040"/>
          </a:xfrm>
          <a:prstGeom prst="rect">
            <a:avLst/>
          </a:prstGeom>
          <a:noFill/>
          <a:ln/>
        </p:spPr>
        <p:txBody>
          <a:bodyPr wrap="square" lIns="0" tIns="0" rIns="0" bIns="0" rtlCol="0" anchor="ctr"/>
          <a:lstStyle/>
          <a:p>
            <a:pPr marL="0" indent="0" algn="ctr">
              <a:buNone/>
            </a:pPr>
            <a:r>
              <a:rPr lang="en-US" sz="1200" b="1" kern="0" spc="400" dirty="0">
                <a:solidFill>
                  <a:srgbClr val="64748B"/>
                </a:solidFill>
                <a:latin typeface="Calibri" pitchFamily="34" charset="0"/>
                <a:ea typeface="Calibri" pitchFamily="34" charset="-122"/>
                <a:cs typeface="Calibri" pitchFamily="34" charset="-120"/>
              </a:rPr>
              <a:t>PHOTO</a:t>
            </a:r>
            <a:endParaRPr lang="en-US" sz="1200" dirty="0"/>
          </a:p>
        </p:txBody>
      </p:sp>
      <p:sp>
        <p:nvSpPr>
          <p:cNvPr id="21" name="Text 19"/>
          <p:cNvSpPr/>
          <p:nvPr/>
        </p:nvSpPr>
        <p:spPr>
          <a:xfrm>
            <a:off x="8198968" y="3931920"/>
            <a:ext cx="2377440" cy="274320"/>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(insert square photo)</a:t>
            </a:r>
            <a:endParaRPr lang="en-US" sz="900" dirty="0"/>
          </a:p>
        </p:txBody>
      </p:sp>
      <p:sp>
        <p:nvSpPr>
          <p:cNvPr id="22" name="Text 20"/>
          <p:cNvSpPr/>
          <p:nvPr/>
        </p:nvSpPr>
        <p:spPr>
          <a:xfrm>
            <a:off x="7970368" y="5212080"/>
            <a:ext cx="2834640" cy="45720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Elva</a:t>
            </a:r>
            <a:endParaRPr lang="en-US" sz="2200" dirty="0"/>
          </a:p>
        </p:txBody>
      </p:sp>
      <p:sp>
        <p:nvSpPr>
          <p:cNvPr id="23" name="Shape 21"/>
          <p:cNvSpPr/>
          <p:nvPr/>
        </p:nvSpPr>
        <p:spPr>
          <a:xfrm>
            <a:off x="9159088" y="5742432"/>
            <a:ext cx="457200" cy="36576"/>
          </a:xfrm>
          <a:prstGeom prst="rect">
            <a:avLst/>
          </a:prstGeom>
          <a:solidFill>
            <a:srgbClr val="38BDF8"/>
          </a:solidFill>
          <a:ln/>
        </p:spPr>
        <p:txBody>
          <a:bodyPr/>
          <a:lstStyle/>
          <a:p>
            <a:endParaRPr lang="de-DE"/>
          </a:p>
        </p:txBody>
      </p:sp>
      <p:pic>
        <p:nvPicPr>
          <p:cNvPr id="25" name="Grafik 24" descr="Ein Bild, das Kleidung, Gebäude, Himmel, draußen enthält.&#10;&#10;KI-generierte Inhalte können fehlerhaft sein.">
            <a:extLst>
              <a:ext uri="{FF2B5EF4-FFF2-40B4-BE49-F238E27FC236}">
                <a16:creationId xmlns:a16="http://schemas.microsoft.com/office/drawing/2014/main" id="{D4AFA0BC-94C3-DF57-2C5F-18D82F45DB76}"/>
              </a:ext>
            </a:extLst>
          </p:cNvPr>
          <p:cNvPicPr>
            <a:picLocks noChangeAspect="1"/>
          </p:cNvPicPr>
          <p:nvPr/>
        </p:nvPicPr>
        <p:blipFill>
          <a:blip r:embed="rId3"/>
          <a:stretch>
            <a:fillRect/>
          </a:stretch>
        </p:blipFill>
        <p:spPr>
          <a:xfrm>
            <a:off x="1602036" y="2651760"/>
            <a:ext cx="2390692" cy="239069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431"/>
        </a:solidFill>
        <a:effectLst/>
      </p:bgPr>
    </p:bg>
    <p:spTree>
      <p:nvGrpSpPr>
        <p:cNvPr id="1" name=""/>
        <p:cNvGrpSpPr/>
        <p:nvPr/>
      </p:nvGrpSpPr>
      <p:grpSpPr>
        <a:xfrm>
          <a:off x="0" y="0"/>
          <a:ext cx="0" cy="0"/>
          <a:chOff x="0" y="0"/>
          <a:chExt cx="0" cy="0"/>
        </a:xfrm>
      </p:grpSpPr>
      <p:sp>
        <p:nvSpPr>
          <p:cNvPr id="2" name="Shape 0"/>
          <p:cNvSpPr/>
          <p:nvPr/>
        </p:nvSpPr>
        <p:spPr>
          <a:xfrm>
            <a:off x="-2286000" y="3200400"/>
            <a:ext cx="5943600" cy="5943600"/>
          </a:xfrm>
          <a:prstGeom prst="ellipse">
            <a:avLst/>
          </a:prstGeom>
          <a:solidFill>
            <a:srgbClr val="1E2761">
              <a:alpha val="30000"/>
            </a:srgbClr>
          </a:solidFill>
          <a:ln/>
        </p:spPr>
        <p:txBody>
          <a:bodyPr/>
          <a:lstStyle/>
          <a:p>
            <a:endParaRPr lang="de-DE"/>
          </a:p>
        </p:txBody>
      </p:sp>
      <p:sp>
        <p:nvSpPr>
          <p:cNvPr id="3" name="Shape 1"/>
          <p:cNvSpPr/>
          <p:nvPr/>
        </p:nvSpPr>
        <p:spPr>
          <a:xfrm>
            <a:off x="8534095" y="-1828800"/>
            <a:ext cx="5486400" cy="5486400"/>
          </a:xfrm>
          <a:prstGeom prst="ellipse">
            <a:avLst/>
          </a:prstGeom>
          <a:solidFill>
            <a:srgbClr val="2A3878">
              <a:alpha val="25000"/>
            </a:srgbClr>
          </a:solidFill>
          <a:ln/>
        </p:spPr>
        <p:txBody>
          <a:bodyPr/>
          <a:lstStyle/>
          <a:p>
            <a:endParaRPr lang="de-DE"/>
          </a:p>
        </p:txBody>
      </p:sp>
      <p:sp>
        <p:nvSpPr>
          <p:cNvPr id="4" name="Shape 2"/>
          <p:cNvSpPr/>
          <p:nvPr/>
        </p:nvSpPr>
        <p:spPr>
          <a:xfrm>
            <a:off x="502920" y="292608"/>
            <a:ext cx="1207008" cy="502920"/>
          </a:xfrm>
          <a:prstGeom prst="rect">
            <a:avLst/>
          </a:prstGeom>
          <a:solidFill>
            <a:srgbClr val="FFFFFF"/>
          </a:solidFill>
          <a:ln/>
        </p:spPr>
        <p:txBody>
          <a:bodyPr/>
          <a:lstStyle/>
          <a:p>
            <a:endParaRPr lang="de-DE"/>
          </a:p>
        </p:txBody>
      </p:sp>
      <p:sp>
        <p:nvSpPr>
          <p:cNvPr id="5" name="Text 3"/>
          <p:cNvSpPr/>
          <p:nvPr/>
        </p:nvSpPr>
        <p:spPr>
          <a:xfrm>
            <a:off x="502920" y="292608"/>
            <a:ext cx="1207008" cy="50292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ch</a:t>
            </a:r>
            <a:r>
              <a:rPr lang="en-US" sz="2200" b="1" dirty="0">
                <a:solidFill>
                  <a:srgbClr val="38BDF8"/>
                </a:solidFill>
                <a:latin typeface="Calibri" pitchFamily="34" charset="0"/>
                <a:ea typeface="Calibri" pitchFamily="34" charset="-122"/>
                <a:cs typeface="Calibri" pitchFamily="34" charset="-120"/>
              </a:rPr>
              <a:t>AI</a:t>
            </a:r>
            <a:r>
              <a:rPr lang="en-US" sz="2200" b="1" dirty="0">
                <a:solidFill>
                  <a:srgbClr val="0F172A"/>
                </a:solidFill>
                <a:latin typeface="Calibri" pitchFamily="34" charset="0"/>
                <a:ea typeface="Calibri" pitchFamily="34" charset="-122"/>
                <a:cs typeface="Calibri" pitchFamily="34" charset="-120"/>
              </a:rPr>
              <a:t>n</a:t>
            </a:r>
            <a:endParaRPr lang="en-US" sz="2200" dirty="0"/>
          </a:p>
        </p:txBody>
      </p:sp>
      <p:sp>
        <p:nvSpPr>
          <p:cNvPr id="6" name="Text 4"/>
          <p:cNvSpPr/>
          <p:nvPr/>
        </p:nvSpPr>
        <p:spPr>
          <a:xfrm>
            <a:off x="822960" y="1371600"/>
            <a:ext cx="8229600" cy="1280160"/>
          </a:xfrm>
          <a:prstGeom prst="rect">
            <a:avLst/>
          </a:prstGeom>
          <a:noFill/>
          <a:ln/>
        </p:spPr>
        <p:txBody>
          <a:bodyPr wrap="square" lIns="0" tIns="0" rIns="0" bIns="0" rtlCol="0" anchor="ctr"/>
          <a:lstStyle/>
          <a:p>
            <a:pPr marL="0" indent="0">
              <a:buNone/>
            </a:pPr>
            <a:r>
              <a:rPr lang="en-US" sz="9000" b="1" kern="0" spc="-200" dirty="0">
                <a:solidFill>
                  <a:srgbClr val="F8FAFC"/>
                </a:solidFill>
                <a:latin typeface="Calibri" pitchFamily="34" charset="0"/>
                <a:ea typeface="Calibri" pitchFamily="34" charset="-122"/>
                <a:cs typeface="Calibri" pitchFamily="34" charset="-120"/>
              </a:rPr>
              <a:t>ch</a:t>
            </a:r>
            <a:r>
              <a:rPr lang="en-US" sz="9000" b="1" kern="0" spc="-200" dirty="0">
                <a:solidFill>
                  <a:srgbClr val="38BDF8"/>
                </a:solidFill>
                <a:latin typeface="Calibri" pitchFamily="34" charset="0"/>
                <a:ea typeface="Calibri" pitchFamily="34" charset="-122"/>
                <a:cs typeface="Calibri" pitchFamily="34" charset="-120"/>
              </a:rPr>
              <a:t>AI</a:t>
            </a:r>
            <a:r>
              <a:rPr lang="en-US" sz="9000" b="1" kern="0" spc="-200" dirty="0">
                <a:solidFill>
                  <a:srgbClr val="F8FAFC"/>
                </a:solidFill>
                <a:latin typeface="Calibri" pitchFamily="34" charset="0"/>
                <a:ea typeface="Calibri" pitchFamily="34" charset="-122"/>
                <a:cs typeface="Calibri" pitchFamily="34" charset="-120"/>
              </a:rPr>
              <a:t>n</a:t>
            </a:r>
            <a:endParaRPr lang="en-US" sz="9000" dirty="0"/>
          </a:p>
        </p:txBody>
      </p:sp>
      <p:sp>
        <p:nvSpPr>
          <p:cNvPr id="7" name="Text 5"/>
          <p:cNvSpPr/>
          <p:nvPr/>
        </p:nvSpPr>
        <p:spPr>
          <a:xfrm>
            <a:off x="822960" y="2743200"/>
            <a:ext cx="8229600" cy="594360"/>
          </a:xfrm>
          <a:prstGeom prst="rect">
            <a:avLst/>
          </a:prstGeom>
          <a:noFill/>
          <a:ln/>
        </p:spPr>
        <p:txBody>
          <a:bodyPr wrap="square" lIns="0" tIns="0" rIns="0" bIns="0" rtlCol="0" anchor="ctr"/>
          <a:lstStyle/>
          <a:p>
            <a:pPr marL="0" indent="0">
              <a:buNone/>
            </a:pPr>
            <a:r>
              <a:rPr lang="en-US" sz="2600" dirty="0">
                <a:solidFill>
                  <a:srgbClr val="CADCFC"/>
                </a:solidFill>
                <a:latin typeface="Calibri" pitchFamily="34" charset="0"/>
                <a:ea typeface="Calibri" pitchFamily="34" charset="-122"/>
                <a:cs typeface="Calibri" pitchFamily="34" charset="-120"/>
              </a:rPr>
              <a:t>The privacy layer for sensitive industries.</a:t>
            </a:r>
            <a:endParaRPr lang="en-US" sz="2600" dirty="0"/>
          </a:p>
        </p:txBody>
      </p:sp>
      <p:sp>
        <p:nvSpPr>
          <p:cNvPr id="8" name="Shape 6"/>
          <p:cNvSpPr/>
          <p:nvPr/>
        </p:nvSpPr>
        <p:spPr>
          <a:xfrm>
            <a:off x="822960" y="3931920"/>
            <a:ext cx="548640" cy="36576"/>
          </a:xfrm>
          <a:prstGeom prst="rect">
            <a:avLst/>
          </a:prstGeom>
          <a:solidFill>
            <a:srgbClr val="38BDF8"/>
          </a:solidFill>
          <a:ln/>
        </p:spPr>
        <p:txBody>
          <a:bodyPr/>
          <a:lstStyle/>
          <a:p>
            <a:endParaRPr lang="de-DE"/>
          </a:p>
        </p:txBody>
      </p:sp>
      <p:sp>
        <p:nvSpPr>
          <p:cNvPr id="9" name="Text 7"/>
          <p:cNvSpPr/>
          <p:nvPr/>
        </p:nvSpPr>
        <p:spPr>
          <a:xfrm>
            <a:off x="822960" y="4069080"/>
            <a:ext cx="3657600" cy="320040"/>
          </a:xfrm>
          <a:prstGeom prst="rect">
            <a:avLst/>
          </a:prstGeom>
          <a:noFill/>
          <a:ln/>
        </p:spPr>
        <p:txBody>
          <a:bodyPr wrap="square" lIns="0" tIns="0" rIns="0" bIns="0" rtlCol="0" anchor="ctr"/>
          <a:lstStyle/>
          <a:p>
            <a:pPr marL="0" indent="0">
              <a:buNone/>
            </a:pPr>
            <a:r>
              <a:rPr lang="en-US" sz="1200" b="1" kern="0" spc="400" dirty="0">
                <a:solidFill>
                  <a:srgbClr val="38BDF8"/>
                </a:solidFill>
                <a:latin typeface="Calibri" pitchFamily="34" charset="0"/>
                <a:ea typeface="Calibri" pitchFamily="34" charset="-122"/>
                <a:cs typeface="Calibri" pitchFamily="34" charset="-120"/>
              </a:rPr>
              <a:t>TRY IT</a:t>
            </a:r>
            <a:endParaRPr lang="en-US" sz="1200" dirty="0"/>
          </a:p>
        </p:txBody>
      </p:sp>
      <p:sp>
        <p:nvSpPr>
          <p:cNvPr id="10" name="Text 8"/>
          <p:cNvSpPr/>
          <p:nvPr/>
        </p:nvSpPr>
        <p:spPr>
          <a:xfrm>
            <a:off x="822960" y="4434840"/>
            <a:ext cx="6858000" cy="457200"/>
          </a:xfrm>
          <a:prstGeom prst="rect">
            <a:avLst/>
          </a:prstGeom>
          <a:noFill/>
          <a:ln/>
        </p:spPr>
        <p:txBody>
          <a:bodyPr wrap="square" lIns="0" tIns="0" rIns="0" bIns="0" rtlCol="0" anchor="ctr"/>
          <a:lstStyle/>
          <a:p>
            <a:pPr marL="0" indent="0">
              <a:buNone/>
            </a:pPr>
            <a:r>
              <a:rPr lang="en-US" sz="2000" b="1" dirty="0">
                <a:solidFill>
                  <a:srgbClr val="F8FAFC"/>
                </a:solidFill>
                <a:latin typeface="Calibri" pitchFamily="34" charset="0"/>
                <a:ea typeface="Calibri" pitchFamily="34" charset="-122"/>
                <a:cs typeface="Calibri" pitchFamily="34" charset="-120"/>
              </a:rPr>
              <a:t>Scan the code. Test the gateway. Read the network.</a:t>
            </a:r>
            <a:endParaRPr lang="en-US" sz="2000" dirty="0"/>
          </a:p>
        </p:txBody>
      </p:sp>
      <p:sp>
        <p:nvSpPr>
          <p:cNvPr id="11" name="Text 9"/>
          <p:cNvSpPr/>
          <p:nvPr/>
        </p:nvSpPr>
        <p:spPr>
          <a:xfrm>
            <a:off x="822960" y="4937760"/>
            <a:ext cx="6858000" cy="365760"/>
          </a:xfrm>
          <a:prstGeom prst="rect">
            <a:avLst/>
          </a:prstGeom>
          <a:noFill/>
          <a:ln/>
        </p:spPr>
        <p:txBody>
          <a:bodyPr wrap="square" lIns="0" tIns="0" rIns="0" bIns="0" rtlCol="0" anchor="ctr"/>
          <a:lstStyle/>
          <a:p>
            <a:pPr marL="0" indent="0">
              <a:buNone/>
            </a:pPr>
            <a:r>
              <a:rPr lang="en-US" sz="1400" dirty="0">
                <a:solidFill>
                  <a:srgbClr val="CADCFC"/>
                </a:solidFill>
                <a:latin typeface="Courier New" pitchFamily="34" charset="0"/>
                <a:ea typeface="Courier New" pitchFamily="34" charset="-122"/>
                <a:cs typeface="Courier New" pitchFamily="34" charset="-120"/>
              </a:rPr>
              <a:t>chain.privacy</a:t>
            </a:r>
            <a:endParaRPr lang="en-US" sz="1400" dirty="0"/>
          </a:p>
        </p:txBody>
      </p:sp>
      <p:sp>
        <p:nvSpPr>
          <p:cNvPr id="12" name="Text 10"/>
          <p:cNvSpPr/>
          <p:nvPr/>
        </p:nvSpPr>
        <p:spPr>
          <a:xfrm>
            <a:off x="822960" y="5760720"/>
            <a:ext cx="8229600" cy="457200"/>
          </a:xfrm>
          <a:prstGeom prst="rect">
            <a:avLst/>
          </a:prstGeom>
          <a:noFill/>
          <a:ln/>
        </p:spPr>
        <p:txBody>
          <a:bodyPr wrap="square" lIns="0" tIns="0" rIns="0" bIns="0" rtlCol="0" anchor="ctr"/>
          <a:lstStyle/>
          <a:p>
            <a:pPr marL="0" indent="0">
              <a:buNone/>
            </a:pPr>
            <a:r>
              <a:rPr lang="en-US" sz="1800" i="1" dirty="0">
                <a:solidFill>
                  <a:srgbClr val="F8FAFC"/>
                </a:solidFill>
                <a:latin typeface="Calibri" pitchFamily="34" charset="0"/>
                <a:ea typeface="Calibri" pitchFamily="34" charset="-122"/>
                <a:cs typeface="Calibri" pitchFamily="34" charset="-120"/>
              </a:rPr>
              <a:t>Talk to us about a pilot in your sector.</a:t>
            </a:r>
            <a:endParaRPr lang="en-US" sz="1800" dirty="0"/>
          </a:p>
        </p:txBody>
      </p:sp>
      <p:sp>
        <p:nvSpPr>
          <p:cNvPr id="13" name="Shape 11"/>
          <p:cNvSpPr/>
          <p:nvPr/>
        </p:nvSpPr>
        <p:spPr>
          <a:xfrm>
            <a:off x="8625535" y="1965960"/>
            <a:ext cx="2743200" cy="2743200"/>
          </a:xfrm>
          <a:prstGeom prst="rect">
            <a:avLst/>
          </a:prstGeom>
          <a:solidFill>
            <a:srgbClr val="FFFFFF"/>
          </a:solidFill>
          <a:ln w="38100">
            <a:solidFill>
              <a:srgbClr val="38BDF8"/>
            </a:solidFill>
            <a:prstDash val="solid"/>
          </a:ln>
        </p:spPr>
        <p:txBody>
          <a:bodyPr/>
          <a:lstStyle/>
          <a:p>
            <a:endParaRPr lang="de-DE"/>
          </a:p>
        </p:txBody>
      </p:sp>
      <p:sp>
        <p:nvSpPr>
          <p:cNvPr id="14" name="Shape 12"/>
          <p:cNvSpPr/>
          <p:nvPr/>
        </p:nvSpPr>
        <p:spPr>
          <a:xfrm>
            <a:off x="8808415" y="2148840"/>
            <a:ext cx="2377440" cy="2377440"/>
          </a:xfrm>
          <a:prstGeom prst="rect">
            <a:avLst/>
          </a:prstGeom>
          <a:solidFill>
            <a:srgbClr val="FFFFFF"/>
          </a:solidFill>
          <a:ln w="12700">
            <a:solidFill>
              <a:srgbClr val="64748B"/>
            </a:solidFill>
            <a:prstDash val="dash"/>
          </a:ln>
        </p:spPr>
        <p:txBody>
          <a:bodyPr/>
          <a:lstStyle/>
          <a:p>
            <a:endParaRPr lang="de-DE"/>
          </a:p>
        </p:txBody>
      </p:sp>
      <p:sp>
        <p:nvSpPr>
          <p:cNvPr id="15" name="Text 13"/>
          <p:cNvSpPr/>
          <p:nvPr/>
        </p:nvSpPr>
        <p:spPr>
          <a:xfrm>
            <a:off x="8808415" y="3017520"/>
            <a:ext cx="2377440" cy="365760"/>
          </a:xfrm>
          <a:prstGeom prst="rect">
            <a:avLst/>
          </a:prstGeom>
          <a:noFill/>
          <a:ln/>
        </p:spPr>
        <p:txBody>
          <a:bodyPr wrap="square" lIns="0" tIns="0" rIns="0" bIns="0" rtlCol="0" anchor="ctr"/>
          <a:lstStyle/>
          <a:p>
            <a:pPr marL="0" indent="0" algn="ctr">
              <a:buNone/>
            </a:pPr>
            <a:r>
              <a:rPr lang="en-US" sz="1200" b="1" kern="0" spc="300" dirty="0">
                <a:solidFill>
                  <a:srgbClr val="64748B"/>
                </a:solidFill>
                <a:latin typeface="Calibri" pitchFamily="34" charset="0"/>
                <a:ea typeface="Calibri" pitchFamily="34" charset="-122"/>
                <a:cs typeface="Calibri" pitchFamily="34" charset="-120"/>
              </a:rPr>
              <a:t>PLATZ FÜR QR-CODE</a:t>
            </a:r>
            <a:endParaRPr lang="en-US" sz="1200" dirty="0"/>
          </a:p>
        </p:txBody>
      </p:sp>
      <p:sp>
        <p:nvSpPr>
          <p:cNvPr id="16" name="Text 14"/>
          <p:cNvSpPr/>
          <p:nvPr/>
        </p:nvSpPr>
        <p:spPr>
          <a:xfrm>
            <a:off x="8808415" y="3383280"/>
            <a:ext cx="2377440" cy="32004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(insert QR before pitch)</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2422</Words>
  <Application>Microsoft Macintosh PowerPoint</Application>
  <PresentationFormat>Breitbild</PresentationFormat>
  <Paragraphs>215</Paragraphs>
  <Slides>13</Slides>
  <Notes>13</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13</vt:i4>
      </vt:variant>
    </vt:vector>
  </HeadingPairs>
  <TitlesOfParts>
    <vt:vector size="17" baseType="lpstr">
      <vt:lpstr>Arial</vt:lpstr>
      <vt:lpstr>Calibri</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chAIn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chAIn — Privacy layer for sensitive data</dc:title>
  <dc:subject>PptxGenJS Presentation</dc:subject>
  <dc:creator>PptxGenJS</dc:creator>
  <cp:lastModifiedBy>Fritz Kuermayr</cp:lastModifiedBy>
  <cp:revision>2</cp:revision>
  <dcterms:created xsi:type="dcterms:W3CDTF">2026-04-27T22:53:31Z</dcterms:created>
  <dcterms:modified xsi:type="dcterms:W3CDTF">2026-04-27T23:03:32Z</dcterms:modified>
</cp:coreProperties>
</file>